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reproduced the main results of the PowerSGD paper on NERSC Perlmutter, using the authors' own research code, and checked which of its claims still hold on modern hardware.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parallelism splits the batch across GPUs, but the gradients must be averaged after every step. The message is as large as the model, so communication grows with model size.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layer's gradient is a matrix. PowerSGD runs one step of power iteration to find a rank-r approximation and only communicates the two thin factors. Warm start and error feedback keep it accurate; linearity lets it use all-reduce.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three claims we set out to check. Numbers are from Table 3 of the paper, 16 GPUs, ResNet18 on CIFAR-10 and an LSTM on WikiText-2.</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ran the authors' research code unchanged except for porting. The big difference is the network: the paper's 10 Gbit/s Ethernet versus Perlmutter's NVLink and Slingshot.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CIFAR-10 test accuracy. Rank 2 and Rank 4 hit the paper's numbers exactly. Right: the LSTM. All of our perplexities are higher than the paper's, including plain SGD, which points to a data difference rather than PowerSGD. The next slides show this.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counterpart of the paper's Figure 4. The jump at epoch 150 is the learning-rate decay. Training took about 8 minutes on 16 A100s versus about 45 minutes in the paper.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ordering as the paper's Figure 4: Rank 1 is clearly worse, Rank 2 is close and Rank 4 matches SGD. The drop at epoch 60 is the learning-rate decay.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paper's claim is about PowerSGD compared with SGD, so this is the fair comparison. Our gaps match the paper's within half a point of accuracy and about one point of perplexity. The LSTM's constant offset cancels out because it also affects SGD.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Log scale. Communication volume is a property of the algorithm and the model shapes, so it should match exactly, and it does. Rank 2 sends 136 times less than SGD on ResNet18.</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where our results differ from the paper. We compare the relative change against SGD on the same hardware, not raw milliseconds, since A100s are simply faster than Titan X GPUs.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Breakdown of one training step. On CIFAR-10, SGD's whole gradient exchange is only 6.4 ms, about a quarter of the step, which caps any possible gain. PowerSGD's compression and communication take longer than that, because they are many small operations limited by latency rather than bandwidth.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Slurm accounting for each job. Utilization is the share of time any GPU kernel was running, including NCCL communication kernels, so it is not the same as useful compute. ResNet18 on 32x32 images with 128 images per GPU is too little work to keep an A100 busy. Both models fit in a few GB, which is why larger models such as nanoGPT are the next test.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Summary of what reproduced. The algorithm behaves exactly as described; the wall-clock benefit depends on how expensive communication is relative to computation.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PowerSGD's speedup depends on the communication-to-compute ratio. Larger models such as GPT-style transformers send much bigger gradients, which is where we expect compression to pay off on modern hardware. That is the next part of the project.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numbers behind the charts. Generated with perlmutter/submit_paper.sh table3 and paper-code/analyze_results.py.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2A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3246120"/>
            <a:ext cx="2011680" cy="73152"/>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554480"/>
            <a:ext cx="10515600" cy="1097280"/>
          </a:xfrm>
          <a:prstGeom prst="rect">
            <a:avLst/>
          </a:prstGeom>
          <a:noFill/>
        </p:spPr>
        <p:txBody>
          <a:bodyPr wrap="square">
            <a:spAutoFit/>
          </a:bodyPr>
          <a:lstStyle/>
          <a:p>
            <a:pPr algn="l"/>
            <a:r>
              <a:rPr sz="4400" b="1" i="0">
                <a:solidFill>
                  <a:srgbClr val="FFFFFF"/>
                </a:solidFill>
              </a:rPr>
              <a:t>Reproducing PowerSGD on Perlmutter</a:t>
            </a:r>
          </a:p>
        </p:txBody>
      </p:sp>
      <p:sp>
        <p:nvSpPr>
          <p:cNvPr id="5" name="TextBox 4"/>
          <p:cNvSpPr txBox="1"/>
          <p:nvPr/>
        </p:nvSpPr>
        <p:spPr>
          <a:xfrm>
            <a:off x="822960" y="2514600"/>
            <a:ext cx="10515600" cy="731520"/>
          </a:xfrm>
          <a:prstGeom prst="rect">
            <a:avLst/>
          </a:prstGeom>
          <a:noFill/>
        </p:spPr>
        <p:txBody>
          <a:bodyPr wrap="square">
            <a:spAutoFit/>
          </a:bodyPr>
          <a:lstStyle/>
          <a:p>
            <a:pPr algn="l"/>
            <a:r>
              <a:rPr sz="2400" b="0" i="0">
                <a:solidFill>
                  <a:srgbClr val="C9D6E3"/>
                </a:solidFill>
              </a:rPr>
              <a:t>Low-rank gradient compression for data-parallel training</a:t>
            </a:r>
          </a:p>
        </p:txBody>
      </p:sp>
      <p:sp>
        <p:nvSpPr>
          <p:cNvPr id="6" name="TextBox 5"/>
          <p:cNvSpPr txBox="1"/>
          <p:nvPr/>
        </p:nvSpPr>
        <p:spPr>
          <a:xfrm>
            <a:off x="822960" y="3566160"/>
            <a:ext cx="10515600" cy="548640"/>
          </a:xfrm>
          <a:prstGeom prst="rect">
            <a:avLst/>
          </a:prstGeom>
          <a:noFill/>
        </p:spPr>
        <p:txBody>
          <a:bodyPr wrap="square">
            <a:spAutoFit/>
          </a:bodyPr>
          <a:lstStyle/>
          <a:p>
            <a:pPr algn="l"/>
            <a:r>
              <a:rPr sz="1600" b="0" i="1">
                <a:solidFill>
                  <a:srgbClr val="C9D6E3"/>
                </a:solidFill>
              </a:rPr>
              <a:t>Paper: Vogels, Karimireddy &amp; Jaggi, “PowerSGD: Practical Low-Rank Gradient Compression for Distributed Optimization”, NeurIPS 2019</a:t>
            </a:r>
          </a:p>
        </p:txBody>
      </p:sp>
      <p:sp>
        <p:nvSpPr>
          <p:cNvPr id="7" name="TextBox 6"/>
          <p:cNvSpPr txBox="1"/>
          <p:nvPr/>
        </p:nvSpPr>
        <p:spPr>
          <a:xfrm>
            <a:off x="822960" y="5120640"/>
            <a:ext cx="10515600" cy="457200"/>
          </a:xfrm>
          <a:prstGeom prst="rect">
            <a:avLst/>
          </a:prstGeom>
          <a:noFill/>
        </p:spPr>
        <p:txBody>
          <a:bodyPr wrap="square">
            <a:spAutoFit/>
          </a:bodyPr>
          <a:lstStyle/>
          <a:p>
            <a:pPr algn="l"/>
            <a:r>
              <a:rPr sz="2200" b="1" i="0">
                <a:solidFill>
                  <a:srgbClr val="FFFFFF"/>
                </a:solidFill>
              </a:rPr>
              <a:t>Nayan Yadav</a:t>
            </a:r>
          </a:p>
        </p:txBody>
      </p:sp>
      <p:sp>
        <p:nvSpPr>
          <p:cNvPr id="8" name="TextBox 7"/>
          <p:cNvSpPr txBox="1"/>
          <p:nvPr/>
        </p:nvSpPr>
        <p:spPr>
          <a:xfrm>
            <a:off x="822960" y="5577840"/>
            <a:ext cx="10515600" cy="457200"/>
          </a:xfrm>
          <a:prstGeom prst="rect">
            <a:avLst/>
          </a:prstGeom>
          <a:noFill/>
        </p:spPr>
        <p:txBody>
          <a:bodyPr wrap="square">
            <a:spAutoFit/>
          </a:bodyPr>
          <a:lstStyle/>
          <a:p>
            <a:pPr algn="l"/>
            <a:r>
              <a:rPr sz="1600" b="0" i="0">
                <a:solidFill>
                  <a:srgbClr val="C9D6E3"/>
                </a:solidFill>
              </a:rPr>
              <a:t>Deep Learning course project  ·  November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155680" cy="731520"/>
          </a:xfrm>
          <a:prstGeom prst="rect">
            <a:avLst/>
          </a:prstGeom>
          <a:noFill/>
        </p:spPr>
        <p:txBody>
          <a:bodyPr wrap="square">
            <a:spAutoFit/>
          </a:bodyPr>
          <a:lstStyle/>
          <a:p>
            <a:pPr algn="l"/>
            <a:r>
              <a:rPr sz="3000" b="1" i="0">
                <a:solidFill>
                  <a:srgbClr val="1B2A41"/>
                </a:solidFill>
              </a:rPr>
              <a:t>The problem: communication in data-parallel training</a:t>
            </a:r>
          </a:p>
        </p:txBody>
      </p:sp>
      <p:sp>
        <p:nvSpPr>
          <p:cNvPr id="4" name="TextBox 3"/>
          <p:cNvSpPr txBox="1"/>
          <p:nvPr/>
        </p:nvSpPr>
        <p:spPr>
          <a:xfrm>
            <a:off x="548640" y="914400"/>
            <a:ext cx="11155680" cy="548640"/>
          </a:xfrm>
          <a:prstGeom prst="rect">
            <a:avLst/>
          </a:prstGeom>
          <a:noFill/>
        </p:spPr>
        <p:txBody>
          <a:bodyPr wrap="square">
            <a:spAutoFit/>
          </a:bodyPr>
          <a:lstStyle/>
          <a:p>
            <a:pPr algn="l"/>
            <a:r>
              <a:rPr sz="1900" b="1" i="0">
                <a:solidFill>
                  <a:srgbClr val="2E86AB"/>
                </a:solidFill>
              </a:rPr>
              <a:t>Every training step, every GPU must exchange its entire gradient.</a:t>
            </a:r>
          </a:p>
        </p:txBody>
      </p:sp>
      <p:sp>
        <p:nvSpPr>
          <p:cNvPr id="5" name="TextBox 4"/>
          <p:cNvSpPr txBox="1"/>
          <p:nvPr/>
        </p:nvSpPr>
        <p:spPr>
          <a:xfrm>
            <a:off x="10881360" y="6400800"/>
            <a:ext cx="1005840" cy="365760"/>
          </a:xfrm>
          <a:prstGeom prst="rect">
            <a:avLst/>
          </a:prstGeom>
          <a:noFill/>
        </p:spPr>
        <p:txBody>
          <a:bodyPr wrap="square">
            <a:spAutoFit/>
          </a:bodyPr>
          <a:lstStyle/>
          <a:p>
            <a:pPr algn="r"/>
            <a:r>
              <a:rPr sz="1200" b="0" i="0">
                <a:solidFill>
                  <a:srgbClr val="5C677D"/>
                </a:solidFill>
              </a:rPr>
              <a:t>2</a:t>
            </a:r>
          </a:p>
        </p:txBody>
      </p:sp>
      <p:sp>
        <p:nvSpPr>
          <p:cNvPr id="6" name="TextBox 5"/>
          <p:cNvSpPr txBox="1"/>
          <p:nvPr/>
        </p:nvSpPr>
        <p:spPr>
          <a:xfrm>
            <a:off x="548640" y="6400800"/>
            <a:ext cx="7315200" cy="365760"/>
          </a:xfrm>
          <a:prstGeom prst="rect">
            <a:avLst/>
          </a:prstGeom>
          <a:noFill/>
        </p:spPr>
        <p:txBody>
          <a:bodyPr wrap="square">
            <a:spAutoFit/>
          </a:bodyPr>
          <a:lstStyle/>
          <a:p>
            <a:pPr algn="l"/>
            <a:r>
              <a:rPr sz="1200" b="0" i="0">
                <a:solidFill>
                  <a:srgbClr val="5C677D"/>
                </a:solidFill>
              </a:rPr>
              <a:t>Reproducing PowerSGD on Perlmutter</a:t>
            </a:r>
          </a:p>
        </p:txBody>
      </p:sp>
      <p:sp>
        <p:nvSpPr>
          <p:cNvPr id="7" name="TextBox 6"/>
          <p:cNvSpPr txBox="1"/>
          <p:nvPr/>
        </p:nvSpPr>
        <p:spPr>
          <a:xfrm>
            <a:off x="548640" y="1737360"/>
            <a:ext cx="10972800" cy="4389120"/>
          </a:xfrm>
          <a:prstGeom prst="rect">
            <a:avLst/>
          </a:prstGeom>
          <a:noFill/>
        </p:spPr>
        <p:txBody>
          <a:bodyPr wrap="square">
            <a:spAutoFit/>
          </a:bodyPr>
          <a:lstStyle/>
          <a:p>
            <a:pPr>
              <a:spcAft>
                <a:spcPts val="800"/>
              </a:spcAft>
            </a:pPr>
            <a:r>
              <a:rPr sz="2000" b="1">
                <a:solidFill>
                  <a:srgbClr val="2E86AB"/>
                </a:solidFill>
              </a:rPr>
              <a:t>•  </a:t>
            </a:r>
            <a:r>
              <a:rPr sz="2000" b="1">
                <a:solidFill>
                  <a:srgbClr val="1B2A41"/>
                </a:solidFill>
              </a:rPr>
              <a:t>Data parallelism: </a:t>
            </a:r>
            <a:r>
              <a:rPr sz="2000">
                <a:solidFill>
                  <a:srgbClr val="1B2A41"/>
                </a:solidFill>
              </a:rPr>
              <a:t>each GPU computes a gradient on its share of the batch; all GPUs then average their gradients (all-reduce) before updating the model.</a:t>
            </a:r>
          </a:p>
          <a:p>
            <a:pPr>
              <a:spcAft>
                <a:spcPts val="800"/>
              </a:spcAft>
            </a:pPr>
            <a:r>
              <a:rPr sz="2000" b="1">
                <a:solidFill>
                  <a:srgbClr val="2E86AB"/>
                </a:solidFill>
              </a:rPr>
              <a:t>•  </a:t>
            </a:r>
            <a:r>
              <a:rPr sz="2000" b="1">
                <a:solidFill>
                  <a:srgbClr val="1B2A41"/>
                </a:solidFill>
              </a:rPr>
              <a:t>The message is the whole model: </a:t>
            </a:r>
            <a:r>
              <a:rPr sz="2000">
                <a:solidFill>
                  <a:srgbClr val="1B2A41"/>
                </a:solidFill>
              </a:rPr>
              <a:t>43 MB per step for ResNet18 and 110 MB for the 3-layer LSTM used in the paper.</a:t>
            </a:r>
          </a:p>
          <a:p>
            <a:pPr>
              <a:spcAft>
                <a:spcPts val="800"/>
              </a:spcAft>
            </a:pPr>
            <a:r>
              <a:rPr sz="2000" b="1">
                <a:solidFill>
                  <a:srgbClr val="2E86AB"/>
                </a:solidFill>
              </a:rPr>
              <a:t>•  </a:t>
            </a:r>
            <a:r>
              <a:rPr sz="2000" b="1">
                <a:solidFill>
                  <a:srgbClr val="1B2A41"/>
                </a:solidFill>
              </a:rPr>
              <a:t>As models and GPU counts grow, </a:t>
            </a:r>
            <a:r>
              <a:rPr sz="2000">
                <a:solidFill>
                  <a:srgbClr val="1B2A41"/>
                </a:solidFill>
              </a:rPr>
              <a:t>communication can dominate the time per step.</a:t>
            </a:r>
          </a:p>
          <a:p>
            <a:pPr>
              <a:spcAft>
                <a:spcPts val="800"/>
              </a:spcAft>
            </a:pPr>
            <a:r>
              <a:rPr sz="2000" b="1">
                <a:solidFill>
                  <a:srgbClr val="2E86AB"/>
                </a:solidFill>
              </a:rPr>
              <a:t>•  </a:t>
            </a:r>
            <a:r>
              <a:rPr sz="2000" b="1">
                <a:solidFill>
                  <a:srgbClr val="1B2A41"/>
                </a:solidFill>
              </a:rPr>
              <a:t>Earlier compressors </a:t>
            </a:r>
            <a:r>
              <a:rPr sz="2000">
                <a:solidFill>
                  <a:srgbClr val="1B2A41"/>
                </a:solidFill>
              </a:rPr>
              <a:t>(sign-based, top-K) either lose accuracy or cannot be summed with all-reduce, so they scale poorly with more GPUs.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155680" cy="731520"/>
          </a:xfrm>
          <a:prstGeom prst="rect">
            <a:avLst/>
          </a:prstGeom>
          <a:noFill/>
        </p:spPr>
        <p:txBody>
          <a:bodyPr wrap="square">
            <a:spAutoFit/>
          </a:bodyPr>
          <a:lstStyle/>
          <a:p>
            <a:pPr algn="l"/>
            <a:r>
              <a:rPr sz="3000" b="1" i="0">
                <a:solidFill>
                  <a:srgbClr val="1B2A41"/>
                </a:solidFill>
              </a:rPr>
              <a:t>PowerSGD: send a low-rank approximation of each gradient</a:t>
            </a:r>
          </a:p>
        </p:txBody>
      </p:sp>
      <p:sp>
        <p:nvSpPr>
          <p:cNvPr id="4" name="TextBox 3"/>
          <p:cNvSpPr txBox="1"/>
          <p:nvPr/>
        </p:nvSpPr>
        <p:spPr>
          <a:xfrm>
            <a:off x="548640" y="914400"/>
            <a:ext cx="11155680" cy="548640"/>
          </a:xfrm>
          <a:prstGeom prst="rect">
            <a:avLst/>
          </a:prstGeom>
          <a:noFill/>
        </p:spPr>
        <p:txBody>
          <a:bodyPr wrap="square">
            <a:spAutoFit/>
          </a:bodyPr>
          <a:lstStyle/>
          <a:p>
            <a:pPr algn="l"/>
            <a:r>
              <a:rPr sz="1900" b="1" i="0">
                <a:solidFill>
                  <a:srgbClr val="2E86AB"/>
                </a:solidFill>
              </a:rPr>
              <a:t>Approximate each layer's gradient matrix M by P·Qᵀ with small rank r (1, 2 or 4).</a:t>
            </a:r>
          </a:p>
        </p:txBody>
      </p:sp>
      <p:sp>
        <p:nvSpPr>
          <p:cNvPr id="5" name="TextBox 4"/>
          <p:cNvSpPr txBox="1"/>
          <p:nvPr/>
        </p:nvSpPr>
        <p:spPr>
          <a:xfrm>
            <a:off x="10881360" y="6400800"/>
            <a:ext cx="1005840" cy="365760"/>
          </a:xfrm>
          <a:prstGeom prst="rect">
            <a:avLst/>
          </a:prstGeom>
          <a:noFill/>
        </p:spPr>
        <p:txBody>
          <a:bodyPr wrap="square">
            <a:spAutoFit/>
          </a:bodyPr>
          <a:lstStyle/>
          <a:p>
            <a:pPr algn="r"/>
            <a:r>
              <a:rPr sz="1200" b="0" i="0">
                <a:solidFill>
                  <a:srgbClr val="5C677D"/>
                </a:solidFill>
              </a:rPr>
              <a:t>3</a:t>
            </a:r>
          </a:p>
        </p:txBody>
      </p:sp>
      <p:sp>
        <p:nvSpPr>
          <p:cNvPr id="6" name="TextBox 5"/>
          <p:cNvSpPr txBox="1"/>
          <p:nvPr/>
        </p:nvSpPr>
        <p:spPr>
          <a:xfrm>
            <a:off x="548640" y="6400800"/>
            <a:ext cx="7315200" cy="365760"/>
          </a:xfrm>
          <a:prstGeom prst="rect">
            <a:avLst/>
          </a:prstGeom>
          <a:noFill/>
        </p:spPr>
        <p:txBody>
          <a:bodyPr wrap="square">
            <a:spAutoFit/>
          </a:bodyPr>
          <a:lstStyle/>
          <a:p>
            <a:pPr algn="l"/>
            <a:r>
              <a:rPr sz="1200" b="0" i="0">
                <a:solidFill>
                  <a:srgbClr val="5C677D"/>
                </a:solidFill>
              </a:rPr>
              <a:t>Reproducing PowerSGD on Perlmutter</a:t>
            </a:r>
          </a:p>
        </p:txBody>
      </p:sp>
      <p:pic>
        <p:nvPicPr>
          <p:cNvPr id="7" name="Picture 6" descr="fig1_method.png"/>
          <p:cNvPicPr>
            <a:picLocks noChangeAspect="1"/>
          </p:cNvPicPr>
          <p:nvPr/>
        </p:nvPicPr>
        <p:blipFill>
          <a:blip r:embed="rId3"/>
          <a:stretch>
            <a:fillRect/>
          </a:stretch>
        </p:blipFill>
        <p:spPr>
          <a:xfrm>
            <a:off x="1508809" y="1554480"/>
            <a:ext cx="9174077" cy="2651760"/>
          </a:xfrm>
          <a:prstGeom prst="rect">
            <a:avLst/>
          </a:prstGeom>
        </p:spPr>
      </p:pic>
      <p:sp>
        <p:nvSpPr>
          <p:cNvPr id="8" name="TextBox 7"/>
          <p:cNvSpPr txBox="1"/>
          <p:nvPr/>
        </p:nvSpPr>
        <p:spPr>
          <a:xfrm>
            <a:off x="548640" y="4389120"/>
            <a:ext cx="10972800" cy="2194560"/>
          </a:xfrm>
          <a:prstGeom prst="rect">
            <a:avLst/>
          </a:prstGeom>
          <a:noFill/>
        </p:spPr>
        <p:txBody>
          <a:bodyPr wrap="square">
            <a:spAutoFit/>
          </a:bodyPr>
          <a:lstStyle/>
          <a:p>
            <a:pPr>
              <a:spcAft>
                <a:spcPts val="800"/>
              </a:spcAft>
            </a:pPr>
            <a:r>
              <a:rPr sz="1800" b="1">
                <a:solidFill>
                  <a:srgbClr val="2E86AB"/>
                </a:solidFill>
              </a:rPr>
              <a:t>•  </a:t>
            </a:r>
            <a:r>
              <a:rPr sz="1800" b="1">
                <a:solidFill>
                  <a:srgbClr val="1B2A41"/>
                </a:solidFill>
              </a:rPr>
              <a:t>One power-iteration step per layer: </a:t>
            </a:r>
            <a:r>
              <a:rPr sz="1800">
                <a:solidFill>
                  <a:srgbClr val="1B2A41"/>
                </a:solidFill>
              </a:rPr>
              <a:t>P = M·Q → all-reduce P → orthogonalize P → Q = Mᵀ·P → all-reduce Q.</a:t>
            </a:r>
          </a:p>
          <a:p>
            <a:pPr>
              <a:spcAft>
                <a:spcPts val="800"/>
              </a:spcAft>
            </a:pPr>
            <a:r>
              <a:rPr sz="1800" b="1">
                <a:solidFill>
                  <a:srgbClr val="2E86AB"/>
                </a:solidFill>
              </a:rPr>
              <a:t>•  </a:t>
            </a:r>
            <a:r>
              <a:rPr sz="1800" b="1">
                <a:solidFill>
                  <a:srgbClr val="1B2A41"/>
                </a:solidFill>
              </a:rPr>
              <a:t>Warm start: </a:t>
            </a:r>
            <a:r>
              <a:rPr sz="1800">
                <a:solidFill>
                  <a:srgbClr val="1B2A41"/>
                </a:solidFill>
              </a:rPr>
              <a:t>reuse the previous step's Q, so a single cheap iteration is enough.</a:t>
            </a:r>
          </a:p>
          <a:p>
            <a:pPr>
              <a:spcAft>
                <a:spcPts val="800"/>
              </a:spcAft>
            </a:pPr>
            <a:r>
              <a:rPr sz="1800" b="1">
                <a:solidFill>
                  <a:srgbClr val="2E86AB"/>
                </a:solidFill>
              </a:rPr>
              <a:t>•  </a:t>
            </a:r>
            <a:r>
              <a:rPr sz="1800" b="1">
                <a:solidFill>
                  <a:srgbClr val="1B2A41"/>
                </a:solidFill>
              </a:rPr>
              <a:t>Error feedback: </a:t>
            </a:r>
            <a:r>
              <a:rPr sz="1800">
                <a:solidFill>
                  <a:srgbClr val="1B2A41"/>
                </a:solidFill>
              </a:rPr>
              <a:t>remember what the compression missed and add it to the next gradient.</a:t>
            </a:r>
          </a:p>
          <a:p>
            <a:pPr>
              <a:spcAft>
                <a:spcPts val="800"/>
              </a:spcAft>
            </a:pPr>
            <a:r>
              <a:rPr sz="1800" b="1">
                <a:solidFill>
                  <a:srgbClr val="2E86AB"/>
                </a:solidFill>
              </a:rPr>
              <a:t>•  </a:t>
            </a:r>
            <a:r>
              <a:rPr sz="1800" b="1">
                <a:solidFill>
                  <a:srgbClr val="1B2A41"/>
                </a:solidFill>
              </a:rPr>
              <a:t>Linear in M: </a:t>
            </a:r>
            <a:r>
              <a:rPr sz="1800">
                <a:solidFill>
                  <a:srgbClr val="1B2A41"/>
                </a:solidFill>
              </a:rPr>
              <a:t>the GPUs' P and Q can simply be summed with all-reduce.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155680" cy="731520"/>
          </a:xfrm>
          <a:prstGeom prst="rect">
            <a:avLst/>
          </a:prstGeom>
          <a:noFill/>
        </p:spPr>
        <p:txBody>
          <a:bodyPr wrap="square">
            <a:spAutoFit/>
          </a:bodyPr>
          <a:lstStyle/>
          <a:p>
            <a:pPr algn="l"/>
            <a:r>
              <a:rPr sz="3000" b="1" i="0">
                <a:solidFill>
                  <a:srgbClr val="1B2A41"/>
                </a:solidFill>
              </a:rPr>
              <a:t>The paper's three claims</a:t>
            </a:r>
          </a:p>
        </p:txBody>
      </p:sp>
      <p:sp>
        <p:nvSpPr>
          <p:cNvPr id="4" name="TextBox 3"/>
          <p:cNvSpPr txBox="1"/>
          <p:nvPr/>
        </p:nvSpPr>
        <p:spPr>
          <a:xfrm>
            <a:off x="548640" y="914400"/>
            <a:ext cx="11155680" cy="548640"/>
          </a:xfrm>
          <a:prstGeom prst="rect">
            <a:avLst/>
          </a:prstGeom>
          <a:noFill/>
        </p:spPr>
        <p:txBody>
          <a:bodyPr wrap="square">
            <a:spAutoFit/>
          </a:bodyPr>
          <a:lstStyle/>
          <a:p>
            <a:pPr algn="l"/>
            <a:r>
              <a:rPr sz="1900" b="1" i="0">
                <a:solidFill>
                  <a:srgbClr val="2E86AB"/>
                </a:solidFill>
              </a:rPr>
              <a:t>We tested all three with the authors' own code, matching Table 3 of the paper.</a:t>
            </a:r>
          </a:p>
        </p:txBody>
      </p:sp>
      <p:sp>
        <p:nvSpPr>
          <p:cNvPr id="5" name="TextBox 4"/>
          <p:cNvSpPr txBox="1"/>
          <p:nvPr/>
        </p:nvSpPr>
        <p:spPr>
          <a:xfrm>
            <a:off x="10881360" y="6400800"/>
            <a:ext cx="1005840" cy="365760"/>
          </a:xfrm>
          <a:prstGeom prst="rect">
            <a:avLst/>
          </a:prstGeom>
          <a:noFill/>
        </p:spPr>
        <p:txBody>
          <a:bodyPr wrap="square">
            <a:spAutoFit/>
          </a:bodyPr>
          <a:lstStyle/>
          <a:p>
            <a:pPr algn="r"/>
            <a:r>
              <a:rPr sz="1200" b="0" i="0">
                <a:solidFill>
                  <a:srgbClr val="5C677D"/>
                </a:solidFill>
              </a:rPr>
              <a:t>4</a:t>
            </a:r>
          </a:p>
        </p:txBody>
      </p:sp>
      <p:sp>
        <p:nvSpPr>
          <p:cNvPr id="6" name="TextBox 5"/>
          <p:cNvSpPr txBox="1"/>
          <p:nvPr/>
        </p:nvSpPr>
        <p:spPr>
          <a:xfrm>
            <a:off x="548640" y="6400800"/>
            <a:ext cx="7315200" cy="365760"/>
          </a:xfrm>
          <a:prstGeom prst="rect">
            <a:avLst/>
          </a:prstGeom>
          <a:noFill/>
        </p:spPr>
        <p:txBody>
          <a:bodyPr wrap="square">
            <a:spAutoFit/>
          </a:bodyPr>
          <a:lstStyle/>
          <a:p>
            <a:pPr algn="l"/>
            <a:r>
              <a:rPr sz="1200" b="0" i="0">
                <a:solidFill>
                  <a:srgbClr val="5C677D"/>
                </a:solidFill>
              </a:rPr>
              <a:t>Reproducing PowerSGD on Perlmutter</a:t>
            </a:r>
          </a:p>
        </p:txBody>
      </p:sp>
      <p:sp>
        <p:nvSpPr>
          <p:cNvPr id="7" name="Rounded Rectangle 6"/>
          <p:cNvSpPr/>
          <p:nvPr/>
        </p:nvSpPr>
        <p:spPr>
          <a:xfrm>
            <a:off x="548640" y="1737360"/>
            <a:ext cx="3520440" cy="4206240"/>
          </a:xfrm>
          <a:prstGeom prst="roundRect">
            <a:avLst/>
          </a:prstGeom>
          <a:solidFill>
            <a:srgbClr val="EEF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920240"/>
            <a:ext cx="3017520" cy="731520"/>
          </a:xfrm>
          <a:prstGeom prst="rect">
            <a:avLst/>
          </a:prstGeom>
          <a:noFill/>
        </p:spPr>
        <p:txBody>
          <a:bodyPr wrap="square">
            <a:spAutoFit/>
          </a:bodyPr>
          <a:lstStyle/>
          <a:p>
            <a:pPr algn="l"/>
            <a:r>
              <a:rPr sz="4000" b="1" i="0">
                <a:solidFill>
                  <a:srgbClr val="2E86AB"/>
                </a:solidFill>
              </a:rPr>
              <a:t>1</a:t>
            </a:r>
          </a:p>
        </p:txBody>
      </p:sp>
      <p:sp>
        <p:nvSpPr>
          <p:cNvPr id="9" name="TextBox 8"/>
          <p:cNvSpPr txBox="1"/>
          <p:nvPr/>
        </p:nvSpPr>
        <p:spPr>
          <a:xfrm>
            <a:off x="822959" y="2697480"/>
            <a:ext cx="3017520" cy="822960"/>
          </a:xfrm>
          <a:prstGeom prst="rect">
            <a:avLst/>
          </a:prstGeom>
          <a:noFill/>
        </p:spPr>
        <p:txBody>
          <a:bodyPr wrap="square">
            <a:spAutoFit/>
          </a:bodyPr>
          <a:lstStyle/>
          <a:p>
            <a:pPr algn="l"/>
            <a:r>
              <a:rPr sz="2200" b="1" i="0">
                <a:solidFill>
                  <a:srgbClr val="1B2A41"/>
                </a:solidFill>
              </a:rPr>
              <a:t>Same accuracy as SGD</a:t>
            </a:r>
          </a:p>
        </p:txBody>
      </p:sp>
      <p:sp>
        <p:nvSpPr>
          <p:cNvPr id="10" name="TextBox 9"/>
          <p:cNvSpPr txBox="1"/>
          <p:nvPr/>
        </p:nvSpPr>
        <p:spPr>
          <a:xfrm>
            <a:off x="822959" y="3611880"/>
            <a:ext cx="3017520" cy="2194560"/>
          </a:xfrm>
          <a:prstGeom prst="rect">
            <a:avLst/>
          </a:prstGeom>
          <a:noFill/>
        </p:spPr>
        <p:txBody>
          <a:bodyPr wrap="square">
            <a:spAutoFit/>
          </a:bodyPr>
          <a:lstStyle/>
          <a:p>
            <a:pPr algn="l"/>
            <a:r>
              <a:rPr sz="1700" b="0" i="0">
                <a:solidFill>
                  <a:srgbClr val="5C677D"/>
                </a:solidFill>
              </a:rPr>
              <a:t>CIFAR-10: Rank 2 reaches 94.4% vs 94.3% for SGD.</a:t>
            </a:r>
          </a:p>
          <a:p>
            <a:pPr algn="l"/>
            <a:r>
              <a:rPr sz="1700" b="0" i="0">
                <a:solidFill>
                  <a:srgbClr val="5C677D"/>
                </a:solidFill>
              </a:rPr>
              <a:t/>
            </a:r>
          </a:p>
          <a:p>
            <a:pPr algn="l"/>
            <a:r>
              <a:rPr sz="1700" b="0" i="0">
                <a:solidFill>
                  <a:srgbClr val="5C677D"/>
                </a:solidFill>
              </a:rPr>
              <a:t>WikiText-2: Rank 4 matches SGD's perplexity (91 vs 91).</a:t>
            </a:r>
          </a:p>
        </p:txBody>
      </p:sp>
      <p:sp>
        <p:nvSpPr>
          <p:cNvPr id="11" name="Rounded Rectangle 10"/>
          <p:cNvSpPr/>
          <p:nvPr/>
        </p:nvSpPr>
        <p:spPr>
          <a:xfrm>
            <a:off x="4343400" y="1737360"/>
            <a:ext cx="3520440" cy="4206240"/>
          </a:xfrm>
          <a:prstGeom prst="roundRect">
            <a:avLst/>
          </a:prstGeom>
          <a:solidFill>
            <a:srgbClr val="EEF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17720" y="1920240"/>
            <a:ext cx="3017520" cy="731520"/>
          </a:xfrm>
          <a:prstGeom prst="rect">
            <a:avLst/>
          </a:prstGeom>
          <a:noFill/>
        </p:spPr>
        <p:txBody>
          <a:bodyPr wrap="square">
            <a:spAutoFit/>
          </a:bodyPr>
          <a:lstStyle/>
          <a:p>
            <a:pPr algn="l"/>
            <a:r>
              <a:rPr sz="4000" b="1" i="0">
                <a:solidFill>
                  <a:srgbClr val="2E86AB"/>
                </a:solidFill>
              </a:rPr>
              <a:t>2</a:t>
            </a:r>
          </a:p>
        </p:txBody>
      </p:sp>
      <p:sp>
        <p:nvSpPr>
          <p:cNvPr id="13" name="TextBox 12"/>
          <p:cNvSpPr txBox="1"/>
          <p:nvPr/>
        </p:nvSpPr>
        <p:spPr>
          <a:xfrm>
            <a:off x="4617720" y="2697480"/>
            <a:ext cx="3017520" cy="822960"/>
          </a:xfrm>
          <a:prstGeom prst="rect">
            <a:avLst/>
          </a:prstGeom>
          <a:noFill/>
        </p:spPr>
        <p:txBody>
          <a:bodyPr wrap="square">
            <a:spAutoFit/>
          </a:bodyPr>
          <a:lstStyle/>
          <a:p>
            <a:pPr algn="l"/>
            <a:r>
              <a:rPr sz="2200" b="1" i="0">
                <a:solidFill>
                  <a:srgbClr val="1B2A41"/>
                </a:solidFill>
              </a:rPr>
              <a:t>100× or more less communication</a:t>
            </a:r>
          </a:p>
        </p:txBody>
      </p:sp>
      <p:sp>
        <p:nvSpPr>
          <p:cNvPr id="14" name="TextBox 13"/>
          <p:cNvSpPr txBox="1"/>
          <p:nvPr/>
        </p:nvSpPr>
        <p:spPr>
          <a:xfrm>
            <a:off x="4617720" y="3611880"/>
            <a:ext cx="3017520" cy="2194560"/>
          </a:xfrm>
          <a:prstGeom prst="rect">
            <a:avLst/>
          </a:prstGeom>
          <a:noFill/>
        </p:spPr>
        <p:txBody>
          <a:bodyPr wrap="square">
            <a:spAutoFit/>
          </a:bodyPr>
          <a:lstStyle/>
          <a:p>
            <a:pPr algn="l"/>
            <a:r>
              <a:rPr sz="1700" b="0" i="0">
                <a:solidFill>
                  <a:srgbClr val="5C677D"/>
                </a:solidFill>
              </a:rPr>
              <a:t>136× less data with Rank 2 on ResNet18.</a:t>
            </a:r>
          </a:p>
          <a:p>
            <a:pPr algn="l"/>
            <a:r>
              <a:rPr sz="1700" b="0" i="0">
                <a:solidFill>
                  <a:srgbClr val="5C677D"/>
                </a:solidFill>
              </a:rPr>
              <a:t/>
            </a:r>
          </a:p>
          <a:p>
            <a:pPr algn="l"/>
            <a:r>
              <a:rPr sz="1700" b="0" i="0">
                <a:solidFill>
                  <a:srgbClr val="5C677D"/>
                </a:solidFill>
              </a:rPr>
              <a:t>120× less with Rank 4 on the LSTM.</a:t>
            </a:r>
          </a:p>
        </p:txBody>
      </p:sp>
      <p:sp>
        <p:nvSpPr>
          <p:cNvPr id="15" name="Rounded Rectangle 14"/>
          <p:cNvSpPr/>
          <p:nvPr/>
        </p:nvSpPr>
        <p:spPr>
          <a:xfrm>
            <a:off x="8138160" y="1737360"/>
            <a:ext cx="3520440" cy="4206240"/>
          </a:xfrm>
          <a:prstGeom prst="roundRect">
            <a:avLst/>
          </a:prstGeom>
          <a:solidFill>
            <a:srgbClr val="EEF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12480" y="1920240"/>
            <a:ext cx="3017520" cy="731520"/>
          </a:xfrm>
          <a:prstGeom prst="rect">
            <a:avLst/>
          </a:prstGeom>
          <a:noFill/>
        </p:spPr>
        <p:txBody>
          <a:bodyPr wrap="square">
            <a:spAutoFit/>
          </a:bodyPr>
          <a:lstStyle/>
          <a:p>
            <a:pPr algn="l"/>
            <a:r>
              <a:rPr sz="4000" b="1" i="0">
                <a:solidFill>
                  <a:srgbClr val="2E86AB"/>
                </a:solidFill>
              </a:rPr>
              <a:t>3</a:t>
            </a:r>
          </a:p>
        </p:txBody>
      </p:sp>
      <p:sp>
        <p:nvSpPr>
          <p:cNvPr id="17" name="TextBox 16"/>
          <p:cNvSpPr txBox="1"/>
          <p:nvPr/>
        </p:nvSpPr>
        <p:spPr>
          <a:xfrm>
            <a:off x="8412480" y="2697480"/>
            <a:ext cx="3017520" cy="822960"/>
          </a:xfrm>
          <a:prstGeom prst="rect">
            <a:avLst/>
          </a:prstGeom>
          <a:noFill/>
        </p:spPr>
        <p:txBody>
          <a:bodyPr wrap="square">
            <a:spAutoFit/>
          </a:bodyPr>
          <a:lstStyle/>
          <a:p>
            <a:pPr algn="l"/>
            <a:r>
              <a:rPr sz="2200" b="1" i="0">
                <a:solidFill>
                  <a:srgbClr val="1B2A41"/>
                </a:solidFill>
              </a:rPr>
              <a:t>Faster training</a:t>
            </a:r>
          </a:p>
        </p:txBody>
      </p:sp>
      <p:sp>
        <p:nvSpPr>
          <p:cNvPr id="18" name="TextBox 17"/>
          <p:cNvSpPr txBox="1"/>
          <p:nvPr/>
        </p:nvSpPr>
        <p:spPr>
          <a:xfrm>
            <a:off x="8412480" y="3611880"/>
            <a:ext cx="3017520" cy="2194560"/>
          </a:xfrm>
          <a:prstGeom prst="rect">
            <a:avLst/>
          </a:prstGeom>
          <a:noFill/>
        </p:spPr>
        <p:txBody>
          <a:bodyPr wrap="square">
            <a:spAutoFit/>
          </a:bodyPr>
          <a:lstStyle/>
          <a:p>
            <a:pPr algn="l"/>
            <a:r>
              <a:rPr sz="1700" b="0" i="0">
                <a:solidFill>
                  <a:srgbClr val="5C677D"/>
                </a:solidFill>
              </a:rPr>
              <a:t>On 16 GPUs, time per batch drops by 23% (ResNet18, Rank 2) and 55% (LSTM, Rank 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155680" cy="731520"/>
          </a:xfrm>
          <a:prstGeom prst="rect">
            <a:avLst/>
          </a:prstGeom>
          <a:noFill/>
        </p:spPr>
        <p:txBody>
          <a:bodyPr wrap="square">
            <a:spAutoFit/>
          </a:bodyPr>
          <a:lstStyle/>
          <a:p>
            <a:pPr algn="l"/>
            <a:r>
              <a:rPr sz="3000" b="1" i="0">
                <a:solidFill>
                  <a:srgbClr val="1B2A41"/>
                </a:solidFill>
              </a:rPr>
              <a:t>Setup: same code and hyperparameters, very different hardware</a:t>
            </a:r>
          </a:p>
        </p:txBody>
      </p:sp>
      <p:sp>
        <p:nvSpPr>
          <p:cNvPr id="4" name="TextBox 3"/>
          <p:cNvSpPr txBox="1"/>
          <p:nvPr/>
        </p:nvSpPr>
        <p:spPr>
          <a:xfrm>
            <a:off x="548640" y="914400"/>
            <a:ext cx="11155680" cy="548640"/>
          </a:xfrm>
          <a:prstGeom prst="rect">
            <a:avLst/>
          </a:prstGeom>
          <a:noFill/>
        </p:spPr>
        <p:txBody>
          <a:bodyPr wrap="square">
            <a:spAutoFit/>
          </a:bodyPr>
          <a:lstStyle/>
          <a:p>
            <a:pPr algn="l"/>
            <a:r>
              <a:rPr sz="1900" b="1" i="0">
                <a:solidFill>
                  <a:srgbClr val="2E86AB"/>
                </a:solidFill>
              </a:rPr>
              <a:t>Only the hardware changed; the algorithm, models and hyperparameters are the paper's.</a:t>
            </a:r>
          </a:p>
        </p:txBody>
      </p:sp>
      <p:sp>
        <p:nvSpPr>
          <p:cNvPr id="5" name="TextBox 4"/>
          <p:cNvSpPr txBox="1"/>
          <p:nvPr/>
        </p:nvSpPr>
        <p:spPr>
          <a:xfrm>
            <a:off x="10881360" y="6400800"/>
            <a:ext cx="1005840" cy="365760"/>
          </a:xfrm>
          <a:prstGeom prst="rect">
            <a:avLst/>
          </a:prstGeom>
          <a:noFill/>
        </p:spPr>
        <p:txBody>
          <a:bodyPr wrap="square">
            <a:spAutoFit/>
          </a:bodyPr>
          <a:lstStyle/>
          <a:p>
            <a:pPr algn="r"/>
            <a:r>
              <a:rPr sz="1200" b="0" i="0">
                <a:solidFill>
                  <a:srgbClr val="5C677D"/>
                </a:solidFill>
              </a:rPr>
              <a:t>5</a:t>
            </a:r>
          </a:p>
        </p:txBody>
      </p:sp>
      <p:sp>
        <p:nvSpPr>
          <p:cNvPr id="6" name="TextBox 5"/>
          <p:cNvSpPr txBox="1"/>
          <p:nvPr/>
        </p:nvSpPr>
        <p:spPr>
          <a:xfrm>
            <a:off x="548640" y="6400800"/>
            <a:ext cx="7315200" cy="365760"/>
          </a:xfrm>
          <a:prstGeom prst="rect">
            <a:avLst/>
          </a:prstGeom>
          <a:noFill/>
        </p:spPr>
        <p:txBody>
          <a:bodyPr wrap="square">
            <a:spAutoFit/>
          </a:bodyPr>
          <a:lstStyle/>
          <a:p>
            <a:pPr algn="l"/>
            <a:r>
              <a:rPr sz="1200" b="0" i="0">
                <a:solidFill>
                  <a:srgbClr val="5C677D"/>
                </a:solidFill>
              </a:rPr>
              <a:t>Reproducing PowerSGD on Perlmutter</a:t>
            </a:r>
          </a:p>
        </p:txBody>
      </p:sp>
      <p:graphicFrame>
        <p:nvGraphicFramePr>
          <p:cNvPr id="7" name="Table 6"/>
          <p:cNvGraphicFramePr>
            <a:graphicFrameLocks noGrp="1"/>
          </p:cNvGraphicFramePr>
          <p:nvPr/>
        </p:nvGraphicFramePr>
        <p:xfrm>
          <a:off x="548640" y="1645920"/>
          <a:ext cx="11064240" cy="3657600"/>
        </p:xfrm>
        <a:graphic>
          <a:graphicData uri="http://schemas.openxmlformats.org/drawingml/2006/table">
            <a:tbl>
              <a:tblPr firstRow="1" bandRow="1">
                <a:tableStyleId>{5C22544A-7EE6-4342-B048-85BDC9FD1C3A}</a:tableStyleId>
              </a:tblPr>
              <a:tblGrid>
                <a:gridCol w="2011680"/>
                <a:gridCol w="4480560"/>
                <a:gridCol w="4572000"/>
              </a:tblGrid>
              <a:tr h="457200">
                <a:tc>
                  <a:txBody>
                    <a:bodyPr/>
                    <a:lstStyle/>
                    <a:p>
                      <a:r>
                        <a:rPr sz="1500" b="1">
                          <a:solidFill>
                            <a:srgbClr val="FFFFFF"/>
                          </a:solidFill>
                        </a:rPr>
                        <a:t/>
                      </a:r>
                    </a:p>
                  </a:txBody>
                  <a:tcPr>
                    <a:solidFill>
                      <a:srgbClr val="1B2A41"/>
                    </a:solidFill>
                  </a:tcPr>
                </a:tc>
                <a:tc>
                  <a:txBody>
                    <a:bodyPr/>
                    <a:lstStyle/>
                    <a:p>
                      <a:r>
                        <a:rPr sz="1500" b="1">
                          <a:solidFill>
                            <a:srgbClr val="FFFFFF"/>
                          </a:solidFill>
                        </a:rPr>
                        <a:t>Paper (2019)</a:t>
                      </a:r>
                    </a:p>
                  </a:txBody>
                  <a:tcPr>
                    <a:solidFill>
                      <a:srgbClr val="1B2A41"/>
                    </a:solidFill>
                  </a:tcPr>
                </a:tc>
                <a:tc>
                  <a:txBody>
                    <a:bodyPr/>
                    <a:lstStyle/>
                    <a:p>
                      <a:r>
                        <a:rPr sz="1500" b="1">
                          <a:solidFill>
                            <a:srgbClr val="FFFFFF"/>
                          </a:solidFill>
                        </a:rPr>
                        <a:t>Ours: Nayan Yadav's runs on NERSC Perlmutter (2026)</a:t>
                      </a:r>
                    </a:p>
                  </a:txBody>
                  <a:tcPr>
                    <a:solidFill>
                      <a:srgbClr val="1B2A41"/>
                    </a:solidFill>
                  </a:tcPr>
                </a:tc>
              </a:tr>
              <a:tr h="457200">
                <a:tc>
                  <a:txBody>
                    <a:bodyPr/>
                    <a:lstStyle/>
                    <a:p>
                      <a:r>
                        <a:rPr sz="1500" b="1">
                          <a:solidFill>
                            <a:srgbClr val="1B2A41"/>
                          </a:solidFill>
                        </a:rPr>
                        <a:t>GPUs</a:t>
                      </a:r>
                    </a:p>
                  </a:txBody>
                  <a:tcPr>
                    <a:solidFill>
                      <a:srgbClr val="EEF3F7"/>
                    </a:solidFill>
                  </a:tcPr>
                </a:tc>
                <a:tc>
                  <a:txBody>
                    <a:bodyPr/>
                    <a:lstStyle/>
                    <a:p>
                      <a:r>
                        <a:rPr sz="1500" b="0">
                          <a:solidFill>
                            <a:srgbClr val="1B2A41"/>
                          </a:solidFill>
                        </a:rPr>
                        <a:t>16× GTX Titan X (2 per node, 8 nodes)</a:t>
                      </a:r>
                    </a:p>
                  </a:txBody>
                  <a:tcPr>
                    <a:solidFill>
                      <a:srgbClr val="EEF3F7"/>
                    </a:solidFill>
                  </a:tcPr>
                </a:tc>
                <a:tc>
                  <a:txBody>
                    <a:bodyPr/>
                    <a:lstStyle/>
                    <a:p>
                      <a:r>
                        <a:rPr sz="1500" b="0">
                          <a:solidFill>
                            <a:srgbClr val="1B2A41"/>
                          </a:solidFill>
                        </a:rPr>
                        <a:t>16× A100 (4 per node, 4 nodes)</a:t>
                      </a:r>
                    </a:p>
                  </a:txBody>
                  <a:tcPr>
                    <a:solidFill>
                      <a:srgbClr val="EEF3F7"/>
                    </a:solidFill>
                  </a:tcPr>
                </a:tc>
              </a:tr>
              <a:tr h="457200">
                <a:tc>
                  <a:txBody>
                    <a:bodyPr/>
                    <a:lstStyle/>
                    <a:p>
                      <a:r>
                        <a:rPr sz="1500" b="1">
                          <a:solidFill>
                            <a:srgbClr val="1B2A41"/>
                          </a:solidFill>
                        </a:rPr>
                        <a:t>Network</a:t>
                      </a:r>
                    </a:p>
                  </a:txBody>
                  <a:tcPr>
                    <a:solidFill>
                      <a:srgbClr val="FFFFFF"/>
                    </a:solidFill>
                  </a:tcPr>
                </a:tc>
                <a:tc>
                  <a:txBody>
                    <a:bodyPr/>
                    <a:lstStyle/>
                    <a:p>
                      <a:r>
                        <a:rPr sz="1500" b="0">
                          <a:solidFill>
                            <a:srgbClr val="1B2A41"/>
                          </a:solidFill>
                        </a:rPr>
                        <a:t>10 Gbit/s Ethernet</a:t>
                      </a:r>
                    </a:p>
                  </a:txBody>
                  <a:tcPr>
                    <a:solidFill>
                      <a:srgbClr val="FFFFFF"/>
                    </a:solidFill>
                  </a:tcPr>
                </a:tc>
                <a:tc>
                  <a:txBody>
                    <a:bodyPr/>
                    <a:lstStyle/>
                    <a:p>
                      <a:r>
                        <a:rPr sz="1500" b="0">
                          <a:solidFill>
                            <a:srgbClr val="1B2A41"/>
                          </a:solidFill>
                        </a:rPr>
                        <a:t>NVLink within a node, Slingshot-11 between nodes</a:t>
                      </a:r>
                    </a:p>
                  </a:txBody>
                  <a:tcPr>
                    <a:solidFill>
                      <a:srgbClr val="FFFFFF"/>
                    </a:solidFill>
                  </a:tcPr>
                </a:tc>
              </a:tr>
              <a:tr h="457200">
                <a:tc>
                  <a:txBody>
                    <a:bodyPr/>
                    <a:lstStyle/>
                    <a:p>
                      <a:r>
                        <a:rPr sz="1500" b="1">
                          <a:solidFill>
                            <a:srgbClr val="1B2A41"/>
                          </a:solidFill>
                        </a:rPr>
                        <a:t>Software</a:t>
                      </a:r>
                    </a:p>
                  </a:txBody>
                  <a:tcPr>
                    <a:solidFill>
                      <a:srgbClr val="EEF3F7"/>
                    </a:solidFill>
                  </a:tcPr>
                </a:tc>
                <a:tc>
                  <a:txBody>
                    <a:bodyPr/>
                    <a:lstStyle/>
                    <a:p>
                      <a:r>
                        <a:rPr sz="1500" b="0">
                          <a:solidFill>
                            <a:srgbClr val="1B2A41"/>
                          </a:solidFill>
                        </a:rPr>
                        <a:t>PyTorch 1.1, NCCL</a:t>
                      </a:r>
                    </a:p>
                  </a:txBody>
                  <a:tcPr>
                    <a:solidFill>
                      <a:srgbClr val="EEF3F7"/>
                    </a:solidFill>
                  </a:tcPr>
                </a:tc>
                <a:tc>
                  <a:txBody>
                    <a:bodyPr/>
                    <a:lstStyle/>
                    <a:p>
                      <a:r>
                        <a:rPr sz="1500" b="0">
                          <a:solidFill>
                            <a:srgbClr val="1B2A41"/>
                          </a:solidFill>
                        </a:rPr>
                        <a:t>PyTorch 2.13, NCCL</a:t>
                      </a:r>
                    </a:p>
                  </a:txBody>
                  <a:tcPr>
                    <a:solidFill>
                      <a:srgbClr val="EEF3F7"/>
                    </a:solidFill>
                  </a:tcPr>
                </a:tc>
              </a:tr>
              <a:tr h="457200">
                <a:tc>
                  <a:txBody>
                    <a:bodyPr/>
                    <a:lstStyle/>
                    <a:p>
                      <a:r>
                        <a:rPr sz="1500" b="1">
                          <a:solidFill>
                            <a:srgbClr val="1B2A41"/>
                          </a:solidFill>
                        </a:rPr>
                        <a:t>Tasks</a:t>
                      </a:r>
                    </a:p>
                  </a:txBody>
                  <a:tcPr>
                    <a:solidFill>
                      <a:srgbClr val="FFFFFF"/>
                    </a:solidFill>
                  </a:tcPr>
                </a:tc>
                <a:tc>
                  <a:txBody>
                    <a:bodyPr/>
                    <a:lstStyle/>
                    <a:p>
                      <a:r>
                        <a:rPr sz="1500" b="0">
                          <a:solidFill>
                            <a:srgbClr val="1B2A41"/>
                          </a:solidFill>
                        </a:rPr>
                        <a:t>ResNet18 / CIFAR-10 (300 epochs), LSTM / WikiText-2 (90 epochs)</a:t>
                      </a:r>
                    </a:p>
                  </a:txBody>
                  <a:tcPr>
                    <a:solidFill>
                      <a:srgbClr val="FFFFFF"/>
                    </a:solidFill>
                  </a:tcPr>
                </a:tc>
                <a:tc>
                  <a:txBody>
                    <a:bodyPr/>
                    <a:lstStyle/>
                    <a:p>
                      <a:r>
                        <a:rPr sz="1500" b="0">
                          <a:solidFill>
                            <a:srgbClr val="1B2A41"/>
                          </a:solidFill>
                        </a:rPr>
                        <a:t>Same</a:t>
                      </a:r>
                    </a:p>
                  </a:txBody>
                  <a:tcPr>
                    <a:solidFill>
                      <a:srgbClr val="FFFFFF"/>
                    </a:solidFill>
                  </a:tcPr>
                </a:tc>
              </a:tr>
              <a:tr h="457200">
                <a:tc>
                  <a:txBody>
                    <a:bodyPr/>
                    <a:lstStyle/>
                    <a:p>
                      <a:r>
                        <a:rPr sz="1500" b="1">
                          <a:solidFill>
                            <a:srgbClr val="1B2A41"/>
                          </a:solidFill>
                        </a:rPr>
                        <a:t>Hyperparameters</a:t>
                      </a:r>
                    </a:p>
                  </a:txBody>
                  <a:tcPr>
                    <a:solidFill>
                      <a:srgbClr val="EEF3F7"/>
                    </a:solidFill>
                  </a:tcPr>
                </a:tc>
                <a:tc>
                  <a:txBody>
                    <a:bodyPr/>
                    <a:lstStyle/>
                    <a:p>
                      <a:r>
                        <a:rPr sz="1500" b="0">
                          <a:solidFill>
                            <a:srgbClr val="1B2A41"/>
                          </a:solidFill>
                        </a:rPr>
                        <a:t>Tuned for SGD, reused unchanged for PowerSGD</a:t>
                      </a:r>
                    </a:p>
                  </a:txBody>
                  <a:tcPr>
                    <a:solidFill>
                      <a:srgbClr val="EEF3F7"/>
                    </a:solidFill>
                  </a:tcPr>
                </a:tc>
                <a:tc>
                  <a:txBody>
                    <a:bodyPr/>
                    <a:lstStyle/>
                    <a:p>
                      <a:r>
                        <a:rPr sz="1500" b="0">
                          <a:solidFill>
                            <a:srgbClr val="1B2A41"/>
                          </a:solidFill>
                        </a:rPr>
                        <a:t>Identical</a:t>
                      </a:r>
                    </a:p>
                  </a:txBody>
                  <a:tcPr>
                    <a:solidFill>
                      <a:srgbClr val="EEF3F7"/>
                    </a:solidFill>
                  </a:tcPr>
                </a:tc>
              </a:tr>
              <a:tr h="457200">
                <a:tc>
                  <a:txBody>
                    <a:bodyPr/>
                    <a:lstStyle/>
                    <a:p>
                      <a:r>
                        <a:rPr sz="1500" b="1">
                          <a:solidFill>
                            <a:srgbClr val="1B2A41"/>
                          </a:solidFill>
                        </a:rPr>
                        <a:t>Repetitions</a:t>
                      </a:r>
                    </a:p>
                  </a:txBody>
                  <a:tcPr>
                    <a:solidFill>
                      <a:srgbClr val="FFFFFF"/>
                    </a:solidFill>
                  </a:tcPr>
                </a:tc>
                <a:tc>
                  <a:txBody>
                    <a:bodyPr/>
                    <a:lstStyle/>
                    <a:p>
                      <a:r>
                        <a:rPr sz="1500" b="0">
                          <a:solidFill>
                            <a:srgbClr val="1B2A41"/>
                          </a:solidFill>
                        </a:rPr>
                        <a:t>3 seeds</a:t>
                      </a:r>
                    </a:p>
                  </a:txBody>
                  <a:tcPr>
                    <a:solidFill>
                      <a:srgbClr val="FFFFFF"/>
                    </a:solidFill>
                  </a:tcPr>
                </a:tc>
                <a:tc>
                  <a:txBody>
                    <a:bodyPr/>
                    <a:lstStyle/>
                    <a:p>
                      <a:r>
                        <a:rPr sz="1500" b="0">
                          <a:solidFill>
                            <a:srgbClr val="1B2A41"/>
                          </a:solidFill>
                        </a:rPr>
                        <a:t>3 seeds per method: 24 runs</a:t>
                      </a:r>
                    </a:p>
                  </a:txBody>
                  <a:tcPr>
                    <a:solidFill>
                      <a:srgbClr val="FFFFFF"/>
                    </a:solidFill>
                  </a:tcPr>
                </a:tc>
              </a:tr>
              <a:tr h="457200">
                <a:tc>
                  <a:txBody>
                    <a:bodyPr/>
                    <a:lstStyle/>
                    <a:p>
                      <a:r>
                        <a:rPr sz="1500" b="1">
                          <a:solidFill>
                            <a:srgbClr val="1B2A41"/>
                          </a:solidFill>
                        </a:rPr>
                        <a:t>Compute used</a:t>
                      </a:r>
                    </a:p>
                  </a:txBody>
                  <a:tcPr>
                    <a:solidFill>
                      <a:srgbClr val="EEF3F7"/>
                    </a:solidFill>
                  </a:tcPr>
                </a:tc>
                <a:tc>
                  <a:txBody>
                    <a:bodyPr/>
                    <a:lstStyle/>
                    <a:p>
                      <a:r>
                        <a:rPr sz="1500" b="0">
                          <a:solidFill>
                            <a:srgbClr val="1B2A41"/>
                          </a:solidFill>
                        </a:rPr>
                        <a:t>Not reported</a:t>
                      </a:r>
                    </a:p>
                  </a:txBody>
                  <a:tcPr>
                    <a:solidFill>
                      <a:srgbClr val="EEF3F7"/>
                    </a:solidFill>
                  </a:tcPr>
                </a:tc>
                <a:tc>
                  <a:txBody>
                    <a:bodyPr/>
                    <a:lstStyle/>
                    <a:p>
                      <a:r>
                        <a:rPr sz="1500" b="0">
                          <a:solidFill>
                            <a:srgbClr val="1B2A41"/>
                          </a:solidFill>
                        </a:rPr>
                        <a:t>36.9 GPU-hours (from Slurm accounting)</a:t>
                      </a:r>
                    </a:p>
                  </a:txBody>
                  <a:tcPr>
                    <a:solidFill>
                      <a:srgbClr val="EEF3F7"/>
                    </a:solidFill>
                  </a:tcPr>
                </a:tc>
              </a:tr>
            </a:tbl>
          </a:graphicData>
        </a:graphic>
      </p:graphicFrame>
      <p:sp>
        <p:nvSpPr>
          <p:cNvPr id="8" name="TextBox 7"/>
          <p:cNvSpPr txBox="1"/>
          <p:nvPr/>
        </p:nvSpPr>
        <p:spPr>
          <a:xfrm>
            <a:off x="548640" y="5349240"/>
            <a:ext cx="10972800" cy="1005840"/>
          </a:xfrm>
          <a:prstGeom prst="rect">
            <a:avLst/>
          </a:prstGeom>
          <a:noFill/>
        </p:spPr>
        <p:txBody>
          <a:bodyPr wrap="square">
            <a:spAutoFit/>
          </a:bodyPr>
          <a:lstStyle/>
          <a:p>
            <a:pPr>
              <a:spcAft>
                <a:spcPts val="800"/>
              </a:spcAft>
            </a:pPr>
            <a:r>
              <a:rPr sz="1600" b="1">
                <a:solidFill>
                  <a:srgbClr val="2E86AB"/>
                </a:solidFill>
              </a:rPr>
              <a:t>•  </a:t>
            </a:r>
            <a:r>
              <a:rPr sz="1600" b="1">
                <a:solidFill>
                  <a:srgbClr val="1B2A41"/>
                </a:solidFill>
              </a:rPr>
              <a:t>Porting only: </a:t>
            </a:r>
            <a:r>
              <a:rPr sz="1600">
                <a:solidFill>
                  <a:srgbClr val="1B2A41"/>
                </a:solidFill>
              </a:rPr>
              <a:t>one GPU per process under Slurm; replaced two libraries that no longer exist (a CUDA bit-packing extension and the old torchtext/spaCy text pipeline); fixed the dataset download.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155680" cy="731520"/>
          </a:xfrm>
          <a:prstGeom prst="rect">
            <a:avLst/>
          </a:prstGeom>
          <a:noFill/>
        </p:spPr>
        <p:txBody>
          <a:bodyPr wrap="square">
            <a:spAutoFit/>
          </a:bodyPr>
          <a:lstStyle/>
          <a:p>
            <a:pPr algn="l"/>
            <a:r>
              <a:rPr sz="3000" b="1" i="0">
                <a:solidFill>
                  <a:srgbClr val="1B2A41"/>
                </a:solidFill>
              </a:rPr>
              <a:t>Claim 1: accuracy matches SGD  ✓</a:t>
            </a:r>
          </a:p>
        </p:txBody>
      </p:sp>
      <p:sp>
        <p:nvSpPr>
          <p:cNvPr id="4" name="TextBox 3"/>
          <p:cNvSpPr txBox="1"/>
          <p:nvPr/>
        </p:nvSpPr>
        <p:spPr>
          <a:xfrm>
            <a:off x="548640" y="914400"/>
            <a:ext cx="11155680" cy="548640"/>
          </a:xfrm>
          <a:prstGeom prst="rect">
            <a:avLst/>
          </a:prstGeom>
          <a:noFill/>
        </p:spPr>
        <p:txBody>
          <a:bodyPr wrap="square">
            <a:spAutoFit/>
          </a:bodyPr>
          <a:lstStyle/>
          <a:p>
            <a:pPr algn="l"/>
            <a:r>
              <a:rPr sz="1900" b="1" i="0">
                <a:solidFill>
                  <a:srgbClr val="2E86AB"/>
                </a:solidFill>
              </a:rPr>
              <a:t>CIFAR-10 is within 0.3 points of the paper; LSTM perplexity is 8-9 points higher for every method.</a:t>
            </a:r>
          </a:p>
        </p:txBody>
      </p:sp>
      <p:sp>
        <p:nvSpPr>
          <p:cNvPr id="5" name="TextBox 4"/>
          <p:cNvSpPr txBox="1"/>
          <p:nvPr/>
        </p:nvSpPr>
        <p:spPr>
          <a:xfrm>
            <a:off x="10881360" y="6400800"/>
            <a:ext cx="1005840" cy="365760"/>
          </a:xfrm>
          <a:prstGeom prst="rect">
            <a:avLst/>
          </a:prstGeom>
          <a:noFill/>
        </p:spPr>
        <p:txBody>
          <a:bodyPr wrap="square">
            <a:spAutoFit/>
          </a:bodyPr>
          <a:lstStyle/>
          <a:p>
            <a:pPr algn="r"/>
            <a:r>
              <a:rPr sz="1200" b="0" i="0">
                <a:solidFill>
                  <a:srgbClr val="5C677D"/>
                </a:solidFill>
              </a:rPr>
              <a:t>6</a:t>
            </a:r>
          </a:p>
        </p:txBody>
      </p:sp>
      <p:sp>
        <p:nvSpPr>
          <p:cNvPr id="6" name="TextBox 5"/>
          <p:cNvSpPr txBox="1"/>
          <p:nvPr/>
        </p:nvSpPr>
        <p:spPr>
          <a:xfrm>
            <a:off x="548640" y="6400800"/>
            <a:ext cx="7315200" cy="365760"/>
          </a:xfrm>
          <a:prstGeom prst="rect">
            <a:avLst/>
          </a:prstGeom>
          <a:noFill/>
        </p:spPr>
        <p:txBody>
          <a:bodyPr wrap="square">
            <a:spAutoFit/>
          </a:bodyPr>
          <a:lstStyle/>
          <a:p>
            <a:pPr algn="l"/>
            <a:r>
              <a:rPr sz="1200" b="0" i="0">
                <a:solidFill>
                  <a:srgbClr val="5C677D"/>
                </a:solidFill>
              </a:rPr>
              <a:t>Reproducing PowerSGD on Perlmutter</a:t>
            </a:r>
          </a:p>
        </p:txBody>
      </p:sp>
      <p:pic>
        <p:nvPicPr>
          <p:cNvPr id="7" name="Picture 6" descr="fig2_quality.png"/>
          <p:cNvPicPr>
            <a:picLocks noChangeAspect="1"/>
          </p:cNvPicPr>
          <p:nvPr/>
        </p:nvPicPr>
        <p:blipFill>
          <a:blip r:embed="rId3"/>
          <a:stretch>
            <a:fillRect/>
          </a:stretch>
        </p:blipFill>
        <p:spPr>
          <a:xfrm>
            <a:off x="1136411" y="1554480"/>
            <a:ext cx="9918871" cy="3977639"/>
          </a:xfrm>
          <a:prstGeom prst="rect">
            <a:avLst/>
          </a:prstGeom>
        </p:spPr>
      </p:pic>
      <p:sp>
        <p:nvSpPr>
          <p:cNvPr id="8" name="TextBox 7"/>
          <p:cNvSpPr txBox="1"/>
          <p:nvPr/>
        </p:nvSpPr>
        <p:spPr>
          <a:xfrm>
            <a:off x="548640" y="5623559"/>
            <a:ext cx="10972800" cy="914400"/>
          </a:xfrm>
          <a:prstGeom prst="rect">
            <a:avLst/>
          </a:prstGeom>
          <a:noFill/>
        </p:spPr>
        <p:txBody>
          <a:bodyPr wrap="square">
            <a:spAutoFit/>
          </a:bodyPr>
          <a:lstStyle/>
          <a:p>
            <a:pPr>
              <a:spcAft>
                <a:spcPts val="800"/>
              </a:spcAft>
            </a:pPr>
            <a:r>
              <a:rPr sz="1600" b="1">
                <a:solidFill>
                  <a:srgbClr val="2E86AB"/>
                </a:solidFill>
              </a:rPr>
              <a:t>•  </a:t>
            </a:r>
            <a:r>
              <a:rPr sz="1600">
                <a:solidFill>
                  <a:srgbClr val="1B2A41"/>
                </a:solidFill>
              </a:rPr>
              <a:t>Seeds agree closely (error bars = min-max of 3 runs), so the small differences are real but tiny.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155680" cy="731520"/>
          </a:xfrm>
          <a:prstGeom prst="rect">
            <a:avLst/>
          </a:prstGeom>
          <a:noFill/>
        </p:spPr>
        <p:txBody>
          <a:bodyPr wrap="square">
            <a:spAutoFit/>
          </a:bodyPr>
          <a:lstStyle/>
          <a:p>
            <a:pPr algn="l"/>
            <a:r>
              <a:rPr sz="3000" b="1" i="0">
                <a:solidFill>
                  <a:srgbClr val="1B2A41"/>
                </a:solidFill>
              </a:rPr>
              <a:t>CIFAR-10 training curves</a:t>
            </a:r>
          </a:p>
        </p:txBody>
      </p:sp>
      <p:sp>
        <p:nvSpPr>
          <p:cNvPr id="4" name="TextBox 3"/>
          <p:cNvSpPr txBox="1"/>
          <p:nvPr/>
        </p:nvSpPr>
        <p:spPr>
          <a:xfrm>
            <a:off x="548640" y="914400"/>
            <a:ext cx="11155680" cy="548640"/>
          </a:xfrm>
          <a:prstGeom prst="rect">
            <a:avLst/>
          </a:prstGeom>
          <a:noFill/>
        </p:spPr>
        <p:txBody>
          <a:bodyPr wrap="square">
            <a:spAutoFit/>
          </a:bodyPr>
          <a:lstStyle/>
          <a:p>
            <a:pPr algn="l"/>
            <a:r>
              <a:rPr sz="1900" b="1" i="0">
                <a:solidFill>
                  <a:srgbClr val="2E86AB"/>
                </a:solidFill>
              </a:rPr>
              <a:t>Rank 2 and Rank 4 track SGD; Rank 1 levels off about 1 point lower, as in the paper.</a:t>
            </a:r>
          </a:p>
        </p:txBody>
      </p:sp>
      <p:sp>
        <p:nvSpPr>
          <p:cNvPr id="5" name="TextBox 4"/>
          <p:cNvSpPr txBox="1"/>
          <p:nvPr/>
        </p:nvSpPr>
        <p:spPr>
          <a:xfrm>
            <a:off x="10881360" y="6400800"/>
            <a:ext cx="1005840" cy="365760"/>
          </a:xfrm>
          <a:prstGeom prst="rect">
            <a:avLst/>
          </a:prstGeom>
          <a:noFill/>
        </p:spPr>
        <p:txBody>
          <a:bodyPr wrap="square">
            <a:spAutoFit/>
          </a:bodyPr>
          <a:lstStyle/>
          <a:p>
            <a:pPr algn="r"/>
            <a:r>
              <a:rPr sz="1200" b="0" i="0">
                <a:solidFill>
                  <a:srgbClr val="5C677D"/>
                </a:solidFill>
              </a:rPr>
              <a:t>7</a:t>
            </a:r>
          </a:p>
        </p:txBody>
      </p:sp>
      <p:sp>
        <p:nvSpPr>
          <p:cNvPr id="6" name="TextBox 5"/>
          <p:cNvSpPr txBox="1"/>
          <p:nvPr/>
        </p:nvSpPr>
        <p:spPr>
          <a:xfrm>
            <a:off x="548640" y="6400800"/>
            <a:ext cx="7315200" cy="365760"/>
          </a:xfrm>
          <a:prstGeom prst="rect">
            <a:avLst/>
          </a:prstGeom>
          <a:noFill/>
        </p:spPr>
        <p:txBody>
          <a:bodyPr wrap="square">
            <a:spAutoFit/>
          </a:bodyPr>
          <a:lstStyle/>
          <a:p>
            <a:pPr algn="l"/>
            <a:r>
              <a:rPr sz="1200" b="0" i="0">
                <a:solidFill>
                  <a:srgbClr val="5C677D"/>
                </a:solidFill>
              </a:rPr>
              <a:t>Reproducing PowerSGD on Perlmutter</a:t>
            </a:r>
          </a:p>
        </p:txBody>
      </p:sp>
      <p:pic>
        <p:nvPicPr>
          <p:cNvPr id="7" name="Picture 6" descr="curves_cifar16_cifar.png"/>
          <p:cNvPicPr>
            <a:picLocks noChangeAspect="1"/>
          </p:cNvPicPr>
          <p:nvPr/>
        </p:nvPicPr>
        <p:blipFill>
          <a:blip r:embed="rId3"/>
          <a:stretch>
            <a:fillRect/>
          </a:stretch>
        </p:blipFill>
        <p:spPr>
          <a:xfrm>
            <a:off x="518007" y="1554480"/>
            <a:ext cx="11155680" cy="4183380"/>
          </a:xfrm>
          <a:prstGeom prst="rect">
            <a:avLst/>
          </a:prstGeom>
        </p:spPr>
      </p:pic>
      <p:sp>
        <p:nvSpPr>
          <p:cNvPr id="8" name="TextBox 7"/>
          <p:cNvSpPr txBox="1"/>
          <p:nvPr/>
        </p:nvSpPr>
        <p:spPr>
          <a:xfrm>
            <a:off x="548640" y="5829300"/>
            <a:ext cx="10972800" cy="548640"/>
          </a:xfrm>
          <a:prstGeom prst="rect">
            <a:avLst/>
          </a:prstGeom>
          <a:noFill/>
        </p:spPr>
        <p:txBody>
          <a:bodyPr wrap="square">
            <a:spAutoFit/>
          </a:bodyPr>
          <a:lstStyle/>
          <a:p>
            <a:pPr algn="l"/>
            <a:r>
              <a:rPr sz="1500" b="0" i="0">
                <a:solidFill>
                  <a:srgbClr val="5C677D"/>
                </a:solidFill>
              </a:rPr>
              <a:t>Jump at epoch 150 = learning-rate decay. Shaded = min-max over 3 seeds. Full run: ~8 minutes on 16 A100s (paper: ~45 minutes).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155680" cy="731520"/>
          </a:xfrm>
          <a:prstGeom prst="rect">
            <a:avLst/>
          </a:prstGeom>
          <a:noFill/>
        </p:spPr>
        <p:txBody>
          <a:bodyPr wrap="square">
            <a:spAutoFit/>
          </a:bodyPr>
          <a:lstStyle/>
          <a:p>
            <a:pPr algn="l"/>
            <a:r>
              <a:rPr sz="3000" b="1" i="0">
                <a:solidFill>
                  <a:srgbClr val="1B2A41"/>
                </a:solidFill>
              </a:rPr>
              <a:t>WikiText-2 LSTM training curves</a:t>
            </a:r>
          </a:p>
        </p:txBody>
      </p:sp>
      <p:sp>
        <p:nvSpPr>
          <p:cNvPr id="4" name="TextBox 3"/>
          <p:cNvSpPr txBox="1"/>
          <p:nvPr/>
        </p:nvSpPr>
        <p:spPr>
          <a:xfrm>
            <a:off x="548640" y="914400"/>
            <a:ext cx="11155680" cy="548640"/>
          </a:xfrm>
          <a:prstGeom prst="rect">
            <a:avLst/>
          </a:prstGeom>
          <a:noFill/>
        </p:spPr>
        <p:txBody>
          <a:bodyPr wrap="square">
            <a:spAutoFit/>
          </a:bodyPr>
          <a:lstStyle/>
          <a:p>
            <a:pPr algn="l"/>
            <a:r>
              <a:rPr sz="1900" b="1" i="0">
                <a:solidFill>
                  <a:srgbClr val="2E86AB"/>
                </a:solidFill>
              </a:rPr>
              <a:t>Higher rank gives lower perplexity; Rank 4 ends level with SGD, as in the paper.</a:t>
            </a:r>
          </a:p>
        </p:txBody>
      </p:sp>
      <p:sp>
        <p:nvSpPr>
          <p:cNvPr id="5" name="TextBox 4"/>
          <p:cNvSpPr txBox="1"/>
          <p:nvPr/>
        </p:nvSpPr>
        <p:spPr>
          <a:xfrm>
            <a:off x="10881360" y="6400800"/>
            <a:ext cx="1005840" cy="365760"/>
          </a:xfrm>
          <a:prstGeom prst="rect">
            <a:avLst/>
          </a:prstGeom>
          <a:noFill/>
        </p:spPr>
        <p:txBody>
          <a:bodyPr wrap="square">
            <a:spAutoFit/>
          </a:bodyPr>
          <a:lstStyle/>
          <a:p>
            <a:pPr algn="r"/>
            <a:r>
              <a:rPr sz="1200" b="0" i="0">
                <a:solidFill>
                  <a:srgbClr val="5C677D"/>
                </a:solidFill>
              </a:rPr>
              <a:t>8</a:t>
            </a:r>
          </a:p>
        </p:txBody>
      </p:sp>
      <p:sp>
        <p:nvSpPr>
          <p:cNvPr id="6" name="TextBox 5"/>
          <p:cNvSpPr txBox="1"/>
          <p:nvPr/>
        </p:nvSpPr>
        <p:spPr>
          <a:xfrm>
            <a:off x="548640" y="6400800"/>
            <a:ext cx="7315200" cy="365760"/>
          </a:xfrm>
          <a:prstGeom prst="rect">
            <a:avLst/>
          </a:prstGeom>
          <a:noFill/>
        </p:spPr>
        <p:txBody>
          <a:bodyPr wrap="square">
            <a:spAutoFit/>
          </a:bodyPr>
          <a:lstStyle/>
          <a:p>
            <a:pPr algn="l"/>
            <a:r>
              <a:rPr sz="1200" b="0" i="0">
                <a:solidFill>
                  <a:srgbClr val="5C677D"/>
                </a:solidFill>
              </a:rPr>
              <a:t>Reproducing PowerSGD on Perlmutter</a:t>
            </a:r>
          </a:p>
        </p:txBody>
      </p:sp>
      <p:pic>
        <p:nvPicPr>
          <p:cNvPr id="7" name="Picture 6" descr="curves_lm16_lm.png"/>
          <p:cNvPicPr>
            <a:picLocks noChangeAspect="1"/>
          </p:cNvPicPr>
          <p:nvPr/>
        </p:nvPicPr>
        <p:blipFill>
          <a:blip r:embed="rId3"/>
          <a:stretch>
            <a:fillRect/>
          </a:stretch>
        </p:blipFill>
        <p:spPr>
          <a:xfrm>
            <a:off x="518007" y="1554480"/>
            <a:ext cx="11155680" cy="4183380"/>
          </a:xfrm>
          <a:prstGeom prst="rect">
            <a:avLst/>
          </a:prstGeom>
        </p:spPr>
      </p:pic>
      <p:sp>
        <p:nvSpPr>
          <p:cNvPr id="8" name="TextBox 7"/>
          <p:cNvSpPr txBox="1"/>
          <p:nvPr/>
        </p:nvSpPr>
        <p:spPr>
          <a:xfrm>
            <a:off x="548640" y="5829300"/>
            <a:ext cx="10972800" cy="548640"/>
          </a:xfrm>
          <a:prstGeom prst="rect">
            <a:avLst/>
          </a:prstGeom>
          <a:noFill/>
        </p:spPr>
        <p:txBody>
          <a:bodyPr wrap="square">
            <a:spAutoFit/>
          </a:bodyPr>
          <a:lstStyle/>
          <a:p>
            <a:pPr algn="l"/>
            <a:r>
              <a:rPr sz="1500" b="0" i="0">
                <a:solidFill>
                  <a:srgbClr val="5C677D"/>
                </a:solidFill>
              </a:rPr>
              <a:t>Drop at epoch 60 = learning-rate decay. Shaded = min-max over 3 seeds. Full run: ~3 minutes on 16 A100s.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155680" cy="731520"/>
          </a:xfrm>
          <a:prstGeom prst="rect">
            <a:avLst/>
          </a:prstGeom>
          <a:noFill/>
        </p:spPr>
        <p:txBody>
          <a:bodyPr wrap="square">
            <a:spAutoFit/>
          </a:bodyPr>
          <a:lstStyle/>
          <a:p>
            <a:pPr algn="l"/>
            <a:r>
              <a:rPr sz="3000" b="1" i="0">
                <a:solidFill>
                  <a:srgbClr val="1B2A41"/>
                </a:solidFill>
              </a:rPr>
              <a:t>The key comparison: PowerSGD relative to SGD</a:t>
            </a:r>
          </a:p>
        </p:txBody>
      </p:sp>
      <p:sp>
        <p:nvSpPr>
          <p:cNvPr id="4" name="TextBox 3"/>
          <p:cNvSpPr txBox="1"/>
          <p:nvPr/>
        </p:nvSpPr>
        <p:spPr>
          <a:xfrm>
            <a:off x="548640" y="914400"/>
            <a:ext cx="11155680" cy="548640"/>
          </a:xfrm>
          <a:prstGeom prst="rect">
            <a:avLst/>
          </a:prstGeom>
          <a:noFill/>
        </p:spPr>
        <p:txBody>
          <a:bodyPr wrap="square">
            <a:spAutoFit/>
          </a:bodyPr>
          <a:lstStyle/>
          <a:p>
            <a:pPr algn="l"/>
            <a:r>
              <a:rPr sz="1900" b="1" i="0">
                <a:solidFill>
                  <a:srgbClr val="2E86AB"/>
                </a:solidFill>
              </a:rPr>
              <a:t>Measured against SGD, our results match the paper almost exactly, LSTM included.</a:t>
            </a:r>
          </a:p>
        </p:txBody>
      </p:sp>
      <p:sp>
        <p:nvSpPr>
          <p:cNvPr id="5" name="TextBox 4"/>
          <p:cNvSpPr txBox="1"/>
          <p:nvPr/>
        </p:nvSpPr>
        <p:spPr>
          <a:xfrm>
            <a:off x="10881360" y="6400800"/>
            <a:ext cx="1005840" cy="365760"/>
          </a:xfrm>
          <a:prstGeom prst="rect">
            <a:avLst/>
          </a:prstGeom>
          <a:noFill/>
        </p:spPr>
        <p:txBody>
          <a:bodyPr wrap="square">
            <a:spAutoFit/>
          </a:bodyPr>
          <a:lstStyle/>
          <a:p>
            <a:pPr algn="r"/>
            <a:r>
              <a:rPr sz="1200" b="0" i="0">
                <a:solidFill>
                  <a:srgbClr val="5C677D"/>
                </a:solidFill>
              </a:rPr>
              <a:t>9</a:t>
            </a:r>
          </a:p>
        </p:txBody>
      </p:sp>
      <p:sp>
        <p:nvSpPr>
          <p:cNvPr id="6" name="TextBox 5"/>
          <p:cNvSpPr txBox="1"/>
          <p:nvPr/>
        </p:nvSpPr>
        <p:spPr>
          <a:xfrm>
            <a:off x="548640" y="6400800"/>
            <a:ext cx="7315200" cy="365760"/>
          </a:xfrm>
          <a:prstGeom prst="rect">
            <a:avLst/>
          </a:prstGeom>
          <a:noFill/>
        </p:spPr>
        <p:txBody>
          <a:bodyPr wrap="square">
            <a:spAutoFit/>
          </a:bodyPr>
          <a:lstStyle/>
          <a:p>
            <a:pPr algn="l"/>
            <a:r>
              <a:rPr sz="1200" b="0" i="0">
                <a:solidFill>
                  <a:srgbClr val="5C677D"/>
                </a:solidFill>
              </a:rPr>
              <a:t>Reproducing PowerSGD on Perlmutter</a:t>
            </a:r>
          </a:p>
        </p:txBody>
      </p:sp>
      <p:pic>
        <p:nvPicPr>
          <p:cNvPr id="7" name="Picture 6" descr="fig3_gap_to_sgd.png"/>
          <p:cNvPicPr>
            <a:picLocks noChangeAspect="1"/>
          </p:cNvPicPr>
          <p:nvPr/>
        </p:nvPicPr>
        <p:blipFill>
          <a:blip r:embed="rId3"/>
          <a:stretch>
            <a:fillRect/>
          </a:stretch>
        </p:blipFill>
        <p:spPr>
          <a:xfrm>
            <a:off x="823500" y="1554480"/>
            <a:ext cx="10544694" cy="3931920"/>
          </a:xfrm>
          <a:prstGeom prst="rect">
            <a:avLst/>
          </a:prstGeom>
        </p:spPr>
      </p:pic>
      <p:sp>
        <p:nvSpPr>
          <p:cNvPr id="8" name="TextBox 7"/>
          <p:cNvSpPr txBox="1"/>
          <p:nvPr/>
        </p:nvSpPr>
        <p:spPr>
          <a:xfrm>
            <a:off x="548640" y="5577840"/>
            <a:ext cx="10972800" cy="1005840"/>
          </a:xfrm>
          <a:prstGeom prst="rect">
            <a:avLst/>
          </a:prstGeom>
          <a:noFill/>
        </p:spPr>
        <p:txBody>
          <a:bodyPr wrap="square">
            <a:spAutoFit/>
          </a:bodyPr>
          <a:lstStyle/>
          <a:p>
            <a:pPr>
              <a:spcAft>
                <a:spcPts val="800"/>
              </a:spcAft>
            </a:pPr>
            <a:r>
              <a:rPr sz="1600" b="1">
                <a:solidFill>
                  <a:srgbClr val="2E86AB"/>
                </a:solidFill>
              </a:rPr>
              <a:t>•  </a:t>
            </a:r>
            <a:r>
              <a:rPr sz="1600" b="1">
                <a:solidFill>
                  <a:srgbClr val="1B2A41"/>
                </a:solidFill>
              </a:rPr>
              <a:t>The LSTM's +8-9 perplexity offset also affects SGD, </a:t>
            </a:r>
            <a:r>
              <a:rPr sz="1600">
                <a:solidFill>
                  <a:srgbClr val="1B2A41"/>
                </a:solidFill>
              </a:rPr>
              <a:t>so it comes from the data pipeline (the original spaCy tokenizer had to be replaced), not from PowerSGD.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155680" cy="731520"/>
          </a:xfrm>
          <a:prstGeom prst="rect">
            <a:avLst/>
          </a:prstGeom>
          <a:noFill/>
        </p:spPr>
        <p:txBody>
          <a:bodyPr wrap="square">
            <a:spAutoFit/>
          </a:bodyPr>
          <a:lstStyle/>
          <a:p>
            <a:pPr algn="l"/>
            <a:r>
              <a:rPr sz="3000" b="1" i="0">
                <a:solidFill>
                  <a:srgbClr val="1B2A41"/>
                </a:solidFill>
              </a:rPr>
              <a:t>Claim 2: 100× or more less communication  ✓</a:t>
            </a:r>
          </a:p>
        </p:txBody>
      </p:sp>
      <p:sp>
        <p:nvSpPr>
          <p:cNvPr id="4" name="TextBox 3"/>
          <p:cNvSpPr txBox="1"/>
          <p:nvPr/>
        </p:nvSpPr>
        <p:spPr>
          <a:xfrm>
            <a:off x="548640" y="914400"/>
            <a:ext cx="11155680" cy="548640"/>
          </a:xfrm>
          <a:prstGeom prst="rect">
            <a:avLst/>
          </a:prstGeom>
          <a:noFill/>
        </p:spPr>
        <p:txBody>
          <a:bodyPr wrap="square">
            <a:spAutoFit/>
          </a:bodyPr>
          <a:lstStyle/>
          <a:p>
            <a:pPr algn="l"/>
            <a:r>
              <a:rPr sz="1900" b="1" i="0">
                <a:solidFill>
                  <a:srgbClr val="2E86AB"/>
                </a:solidFill>
              </a:rPr>
              <a:t>Data sent per epoch matches the paper for every method.</a:t>
            </a:r>
          </a:p>
        </p:txBody>
      </p:sp>
      <p:sp>
        <p:nvSpPr>
          <p:cNvPr id="5" name="TextBox 4"/>
          <p:cNvSpPr txBox="1"/>
          <p:nvPr/>
        </p:nvSpPr>
        <p:spPr>
          <a:xfrm>
            <a:off x="10881360" y="6400800"/>
            <a:ext cx="1005840" cy="365760"/>
          </a:xfrm>
          <a:prstGeom prst="rect">
            <a:avLst/>
          </a:prstGeom>
          <a:noFill/>
        </p:spPr>
        <p:txBody>
          <a:bodyPr wrap="square">
            <a:spAutoFit/>
          </a:bodyPr>
          <a:lstStyle/>
          <a:p>
            <a:pPr algn="r"/>
            <a:r>
              <a:rPr sz="1200" b="0" i="0">
                <a:solidFill>
                  <a:srgbClr val="5C677D"/>
                </a:solidFill>
              </a:rPr>
              <a:t>10</a:t>
            </a:r>
          </a:p>
        </p:txBody>
      </p:sp>
      <p:sp>
        <p:nvSpPr>
          <p:cNvPr id="6" name="TextBox 5"/>
          <p:cNvSpPr txBox="1"/>
          <p:nvPr/>
        </p:nvSpPr>
        <p:spPr>
          <a:xfrm>
            <a:off x="548640" y="6400800"/>
            <a:ext cx="7315200" cy="365760"/>
          </a:xfrm>
          <a:prstGeom prst="rect">
            <a:avLst/>
          </a:prstGeom>
          <a:noFill/>
        </p:spPr>
        <p:txBody>
          <a:bodyPr wrap="square">
            <a:spAutoFit/>
          </a:bodyPr>
          <a:lstStyle/>
          <a:p>
            <a:pPr algn="l"/>
            <a:r>
              <a:rPr sz="1200" b="0" i="0">
                <a:solidFill>
                  <a:srgbClr val="5C677D"/>
                </a:solidFill>
              </a:rPr>
              <a:t>Reproducing PowerSGD on Perlmutter</a:t>
            </a:r>
          </a:p>
        </p:txBody>
      </p:sp>
      <p:pic>
        <p:nvPicPr>
          <p:cNvPr id="7" name="Picture 6" descr="fig4_communication.png"/>
          <p:cNvPicPr>
            <a:picLocks noChangeAspect="1"/>
          </p:cNvPicPr>
          <p:nvPr/>
        </p:nvPicPr>
        <p:blipFill>
          <a:blip r:embed="rId3"/>
          <a:stretch>
            <a:fillRect/>
          </a:stretch>
        </p:blipFill>
        <p:spPr>
          <a:xfrm>
            <a:off x="827968" y="1554480"/>
            <a:ext cx="10535758" cy="3931920"/>
          </a:xfrm>
          <a:prstGeom prst="rect">
            <a:avLst/>
          </a:prstGeom>
        </p:spPr>
      </p:pic>
      <p:sp>
        <p:nvSpPr>
          <p:cNvPr id="8" name="TextBox 7"/>
          <p:cNvSpPr txBox="1"/>
          <p:nvPr/>
        </p:nvSpPr>
        <p:spPr>
          <a:xfrm>
            <a:off x="548640" y="5577840"/>
            <a:ext cx="10972800" cy="1005840"/>
          </a:xfrm>
          <a:prstGeom prst="rect">
            <a:avLst/>
          </a:prstGeom>
          <a:noFill/>
        </p:spPr>
        <p:txBody>
          <a:bodyPr wrap="square">
            <a:spAutoFit/>
          </a:bodyPr>
          <a:lstStyle/>
          <a:p>
            <a:pPr>
              <a:spcAft>
                <a:spcPts val="800"/>
              </a:spcAft>
            </a:pPr>
            <a:r>
              <a:rPr sz="1600" b="1">
                <a:solidFill>
                  <a:srgbClr val="2E86AB"/>
                </a:solidFill>
              </a:rPr>
              <a:t>•  </a:t>
            </a:r>
            <a:r>
              <a:rPr sz="1600" b="1">
                <a:solidFill>
                  <a:srgbClr val="1B2A41"/>
                </a:solidFill>
              </a:rPr>
              <a:t>ResNet18: </a:t>
            </a:r>
            <a:r>
              <a:rPr sz="1600">
                <a:solidFill>
                  <a:srgbClr val="1B2A41"/>
                </a:solidFill>
              </a:rPr>
              <a:t>Rank 2 sends 136× less than SGD.   **LSTM: **Rank 1 sends 310× less, Rank 4 sends 120× less.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155680" cy="731520"/>
          </a:xfrm>
          <a:prstGeom prst="rect">
            <a:avLst/>
          </a:prstGeom>
          <a:noFill/>
        </p:spPr>
        <p:txBody>
          <a:bodyPr wrap="square">
            <a:spAutoFit/>
          </a:bodyPr>
          <a:lstStyle/>
          <a:p>
            <a:pPr algn="l"/>
            <a:r>
              <a:rPr sz="3000" b="1" i="0">
                <a:solidFill>
                  <a:srgbClr val="1B2A41"/>
                </a:solidFill>
              </a:rPr>
              <a:t>Claim 3: faster training  ✗ on Perlmutter</a:t>
            </a:r>
          </a:p>
        </p:txBody>
      </p:sp>
      <p:sp>
        <p:nvSpPr>
          <p:cNvPr id="4" name="TextBox 3"/>
          <p:cNvSpPr txBox="1"/>
          <p:nvPr/>
        </p:nvSpPr>
        <p:spPr>
          <a:xfrm>
            <a:off x="548640" y="914400"/>
            <a:ext cx="11155680" cy="548640"/>
          </a:xfrm>
          <a:prstGeom prst="rect">
            <a:avLst/>
          </a:prstGeom>
          <a:noFill/>
        </p:spPr>
        <p:txBody>
          <a:bodyPr wrap="square">
            <a:spAutoFit/>
          </a:bodyPr>
          <a:lstStyle/>
          <a:p>
            <a:pPr algn="l"/>
            <a:r>
              <a:rPr sz="1900" b="1" i="0">
                <a:solidFill>
                  <a:srgbClr val="2E86AB"/>
                </a:solidFill>
              </a:rPr>
              <a:t>On ResNet18, PowerSGD is slower than SGD; on the LSTM it saves only 3-8%.</a:t>
            </a:r>
          </a:p>
        </p:txBody>
      </p:sp>
      <p:sp>
        <p:nvSpPr>
          <p:cNvPr id="5" name="TextBox 4"/>
          <p:cNvSpPr txBox="1"/>
          <p:nvPr/>
        </p:nvSpPr>
        <p:spPr>
          <a:xfrm>
            <a:off x="10881360" y="6400800"/>
            <a:ext cx="1005840" cy="365760"/>
          </a:xfrm>
          <a:prstGeom prst="rect">
            <a:avLst/>
          </a:prstGeom>
          <a:noFill/>
        </p:spPr>
        <p:txBody>
          <a:bodyPr wrap="square">
            <a:spAutoFit/>
          </a:bodyPr>
          <a:lstStyle/>
          <a:p>
            <a:pPr algn="r"/>
            <a:r>
              <a:rPr sz="1200" b="0" i="0">
                <a:solidFill>
                  <a:srgbClr val="5C677D"/>
                </a:solidFill>
              </a:rPr>
              <a:t>11</a:t>
            </a:r>
          </a:p>
        </p:txBody>
      </p:sp>
      <p:sp>
        <p:nvSpPr>
          <p:cNvPr id="6" name="TextBox 5"/>
          <p:cNvSpPr txBox="1"/>
          <p:nvPr/>
        </p:nvSpPr>
        <p:spPr>
          <a:xfrm>
            <a:off x="548640" y="6400800"/>
            <a:ext cx="7315200" cy="365760"/>
          </a:xfrm>
          <a:prstGeom prst="rect">
            <a:avLst/>
          </a:prstGeom>
          <a:noFill/>
        </p:spPr>
        <p:txBody>
          <a:bodyPr wrap="square">
            <a:spAutoFit/>
          </a:bodyPr>
          <a:lstStyle/>
          <a:p>
            <a:pPr algn="l"/>
            <a:r>
              <a:rPr sz="1200" b="0" i="0">
                <a:solidFill>
                  <a:srgbClr val="5C677D"/>
                </a:solidFill>
              </a:rPr>
              <a:t>Reproducing PowerSGD on Perlmutter</a:t>
            </a:r>
          </a:p>
        </p:txBody>
      </p:sp>
      <p:pic>
        <p:nvPicPr>
          <p:cNvPr id="7" name="Picture 6" descr="fig5_speed.png"/>
          <p:cNvPicPr>
            <a:picLocks noChangeAspect="1"/>
          </p:cNvPicPr>
          <p:nvPr/>
        </p:nvPicPr>
        <p:blipFill>
          <a:blip r:embed="rId3"/>
          <a:stretch>
            <a:fillRect/>
          </a:stretch>
        </p:blipFill>
        <p:spPr>
          <a:xfrm>
            <a:off x="823500" y="1554480"/>
            <a:ext cx="10544694" cy="3931920"/>
          </a:xfrm>
          <a:prstGeom prst="rect">
            <a:avLst/>
          </a:prstGeom>
        </p:spPr>
      </p:pic>
      <p:sp>
        <p:nvSpPr>
          <p:cNvPr id="8" name="TextBox 7"/>
          <p:cNvSpPr txBox="1"/>
          <p:nvPr/>
        </p:nvSpPr>
        <p:spPr>
          <a:xfrm>
            <a:off x="548640" y="5532120"/>
            <a:ext cx="11155680" cy="1097280"/>
          </a:xfrm>
          <a:prstGeom prst="rect">
            <a:avLst/>
          </a:prstGeom>
          <a:noFill/>
        </p:spPr>
        <p:txBody>
          <a:bodyPr wrap="square">
            <a:spAutoFit/>
          </a:bodyPr>
          <a:lstStyle/>
          <a:p>
            <a:pPr>
              <a:spcAft>
                <a:spcPts val="800"/>
              </a:spcAft>
            </a:pPr>
            <a:r>
              <a:rPr sz="1500" b="1">
                <a:solidFill>
                  <a:srgbClr val="2E86AB"/>
                </a:solidFill>
              </a:rPr>
              <a:t>•  </a:t>
            </a:r>
            <a:r>
              <a:rPr sz="1500" b="1">
                <a:solidFill>
                  <a:srgbClr val="1B2A41"/>
                </a:solidFill>
              </a:rPr>
              <a:t>Paper: </a:t>
            </a:r>
            <a:r>
              <a:rPr sz="1500">
                <a:solidFill>
                  <a:srgbClr val="1B2A41"/>
                </a:solidFill>
              </a:rPr>
              <a:t>16-26% faster (ResNet18) and 53-56% faster (LSTM).   **Ours: **8-27% slower and 3-8% faster.</a:t>
            </a:r>
          </a:p>
          <a:p>
            <a:pPr>
              <a:spcAft>
                <a:spcPts val="800"/>
              </a:spcAft>
            </a:pPr>
            <a:r>
              <a:rPr sz="1500" b="1">
                <a:solidFill>
                  <a:srgbClr val="2E86AB"/>
                </a:solidFill>
              </a:rPr>
              <a:t>•  </a:t>
            </a:r>
            <a:r>
              <a:rPr sz="1500" b="1">
                <a:solidFill>
                  <a:srgbClr val="1B2A41"/>
                </a:solidFill>
              </a:rPr>
              <a:t>Our ms per batch: </a:t>
            </a:r>
            <a:r>
              <a:rPr sz="1500">
                <a:solidFill>
                  <a:srgbClr val="1B2A41"/>
                </a:solidFill>
              </a:rPr>
              <a:t>ResNet18 SGD 26.2 → Rank 1/2/4: 28.3 / 29.6 / 33.2.   LSTM SGD 28.8 → 26.5 / 27.1 / 28.1.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155680" cy="731520"/>
          </a:xfrm>
          <a:prstGeom prst="rect">
            <a:avLst/>
          </a:prstGeom>
          <a:noFill/>
        </p:spPr>
        <p:txBody>
          <a:bodyPr wrap="square">
            <a:spAutoFit/>
          </a:bodyPr>
          <a:lstStyle/>
          <a:p>
            <a:pPr algn="l"/>
            <a:r>
              <a:rPr sz="3000" b="1" i="0">
                <a:solidFill>
                  <a:srgbClr val="1B2A41"/>
                </a:solidFill>
              </a:rPr>
              <a:t>Why: communication is cheap on Perlmutter</a:t>
            </a:r>
          </a:p>
        </p:txBody>
      </p:sp>
      <p:sp>
        <p:nvSpPr>
          <p:cNvPr id="4" name="TextBox 3"/>
          <p:cNvSpPr txBox="1"/>
          <p:nvPr/>
        </p:nvSpPr>
        <p:spPr>
          <a:xfrm>
            <a:off x="548640" y="914400"/>
            <a:ext cx="11155680" cy="548640"/>
          </a:xfrm>
          <a:prstGeom prst="rect">
            <a:avLst/>
          </a:prstGeom>
          <a:noFill/>
        </p:spPr>
        <p:txBody>
          <a:bodyPr wrap="square">
            <a:spAutoFit/>
          </a:bodyPr>
          <a:lstStyle/>
          <a:p>
            <a:pPr algn="l"/>
            <a:r>
              <a:rPr sz="1900" b="1" i="0">
                <a:solidFill>
                  <a:srgbClr val="2E86AB"/>
                </a:solidFill>
              </a:rPr>
              <a:t>There is little communication left to save, and compressing costs more than it saves.</a:t>
            </a:r>
          </a:p>
        </p:txBody>
      </p:sp>
      <p:sp>
        <p:nvSpPr>
          <p:cNvPr id="5" name="TextBox 4"/>
          <p:cNvSpPr txBox="1"/>
          <p:nvPr/>
        </p:nvSpPr>
        <p:spPr>
          <a:xfrm>
            <a:off x="10881360" y="6400800"/>
            <a:ext cx="1005840" cy="365760"/>
          </a:xfrm>
          <a:prstGeom prst="rect">
            <a:avLst/>
          </a:prstGeom>
          <a:noFill/>
        </p:spPr>
        <p:txBody>
          <a:bodyPr wrap="square">
            <a:spAutoFit/>
          </a:bodyPr>
          <a:lstStyle/>
          <a:p>
            <a:pPr algn="r"/>
            <a:r>
              <a:rPr sz="1200" b="0" i="0">
                <a:solidFill>
                  <a:srgbClr val="5C677D"/>
                </a:solidFill>
              </a:rPr>
              <a:t>12</a:t>
            </a:r>
          </a:p>
        </p:txBody>
      </p:sp>
      <p:sp>
        <p:nvSpPr>
          <p:cNvPr id="6" name="TextBox 5"/>
          <p:cNvSpPr txBox="1"/>
          <p:nvPr/>
        </p:nvSpPr>
        <p:spPr>
          <a:xfrm>
            <a:off x="548640" y="6400800"/>
            <a:ext cx="7315200" cy="365760"/>
          </a:xfrm>
          <a:prstGeom prst="rect">
            <a:avLst/>
          </a:prstGeom>
          <a:noFill/>
        </p:spPr>
        <p:txBody>
          <a:bodyPr wrap="square">
            <a:spAutoFit/>
          </a:bodyPr>
          <a:lstStyle/>
          <a:p>
            <a:pPr algn="l"/>
            <a:r>
              <a:rPr sz="1200" b="0" i="0">
                <a:solidFill>
                  <a:srgbClr val="5C677D"/>
                </a:solidFill>
              </a:rPr>
              <a:t>Reproducing PowerSGD on Perlmutter</a:t>
            </a:r>
          </a:p>
        </p:txBody>
      </p:sp>
      <p:pic>
        <p:nvPicPr>
          <p:cNvPr id="7" name="Picture 6" descr="fig6_breakdown.png"/>
          <p:cNvPicPr>
            <a:picLocks noChangeAspect="1"/>
          </p:cNvPicPr>
          <p:nvPr/>
        </p:nvPicPr>
        <p:blipFill>
          <a:blip r:embed="rId3"/>
          <a:stretch>
            <a:fillRect/>
          </a:stretch>
        </p:blipFill>
        <p:spPr>
          <a:xfrm>
            <a:off x="1981047" y="1463040"/>
            <a:ext cx="8229600" cy="3069965"/>
          </a:xfrm>
          <a:prstGeom prst="rect">
            <a:avLst/>
          </a:prstGeom>
        </p:spPr>
      </p:pic>
      <p:sp>
        <p:nvSpPr>
          <p:cNvPr id="8" name="TextBox 7"/>
          <p:cNvSpPr txBox="1"/>
          <p:nvPr/>
        </p:nvSpPr>
        <p:spPr>
          <a:xfrm>
            <a:off x="548640" y="4624445"/>
            <a:ext cx="11155680" cy="1828800"/>
          </a:xfrm>
          <a:prstGeom prst="rect">
            <a:avLst/>
          </a:prstGeom>
          <a:noFill/>
        </p:spPr>
        <p:txBody>
          <a:bodyPr wrap="square">
            <a:spAutoFit/>
          </a:bodyPr>
          <a:lstStyle/>
          <a:p>
            <a:pPr>
              <a:spcAft>
                <a:spcPts val="800"/>
              </a:spcAft>
            </a:pPr>
            <a:r>
              <a:rPr sz="1500" b="1">
                <a:solidFill>
                  <a:srgbClr val="2E86AB"/>
                </a:solidFill>
              </a:rPr>
              <a:t>•  </a:t>
            </a:r>
            <a:r>
              <a:rPr sz="1500" b="1">
                <a:solidFill>
                  <a:srgbClr val="1B2A41"/>
                </a:solidFill>
              </a:rPr>
              <a:t>SGD's full all-reduce is only 6.4 of 26 ms (CIFAR-10) and 4.4 of 29 ms (LSTM): </a:t>
            </a:r>
            <a:r>
              <a:rPr sz="1500">
                <a:solidFill>
                  <a:srgbClr val="1B2A41"/>
                </a:solidFill>
              </a:rPr>
              <a:t>the most any compressor could save.</a:t>
            </a:r>
          </a:p>
          <a:p>
            <a:pPr>
              <a:spcAft>
                <a:spcPts val="800"/>
              </a:spcAft>
            </a:pPr>
            <a:r>
              <a:rPr sz="1500" b="1">
                <a:solidFill>
                  <a:srgbClr val="2E86AB"/>
                </a:solidFill>
              </a:rPr>
              <a:t>•  </a:t>
            </a:r>
            <a:r>
              <a:rPr sz="1500" b="1">
                <a:solidFill>
                  <a:srgbClr val="1B2A41"/>
                </a:solidFill>
              </a:rPr>
              <a:t>PowerSGD's step takes longer (9.2 ms at Rank 2): </a:t>
            </a:r>
            <a:r>
              <a:rPr sz="1500">
                <a:solidFill>
                  <a:srgbClr val="1B2A41"/>
                </a:solidFill>
              </a:rPr>
              <a:t>many small per-layer matrix products and orthogonalizations, plus small all-reduces bound by latency, not bandwidth.</a:t>
            </a:r>
          </a:p>
          <a:p>
            <a:pPr>
              <a:spcAft>
                <a:spcPts val="800"/>
              </a:spcAft>
            </a:pPr>
            <a:r>
              <a:rPr sz="1500" b="1">
                <a:solidFill>
                  <a:srgbClr val="2E86AB"/>
                </a:solidFill>
              </a:rPr>
              <a:t>•  </a:t>
            </a:r>
            <a:r>
              <a:rPr sz="1500" b="1">
                <a:solidFill>
                  <a:srgbClr val="1B2A41"/>
                </a:solidFill>
              </a:rPr>
              <a:t>The paper's 10 Gbit/s network is ~80× slower </a:t>
            </a:r>
            <a:r>
              <a:rPr sz="1500">
                <a:solidFill>
                  <a:srgbClr val="1B2A41"/>
                </a:solidFill>
              </a:rPr>
              <a:t>than Perlmutter's 4×200 Gbit/s links between nodes, so there communication dominated.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155680" cy="731520"/>
          </a:xfrm>
          <a:prstGeom prst="rect">
            <a:avLst/>
          </a:prstGeom>
          <a:noFill/>
        </p:spPr>
        <p:txBody>
          <a:bodyPr wrap="square">
            <a:spAutoFit/>
          </a:bodyPr>
          <a:lstStyle/>
          <a:p>
            <a:pPr algn="l"/>
            <a:r>
              <a:rPr sz="3000" b="1" i="0">
                <a:solidFill>
                  <a:srgbClr val="1B2A41"/>
                </a:solidFill>
              </a:rPr>
              <a:t>GPU usage: these models are small for an A100</a:t>
            </a:r>
          </a:p>
        </p:txBody>
      </p:sp>
      <p:sp>
        <p:nvSpPr>
          <p:cNvPr id="4" name="TextBox 3"/>
          <p:cNvSpPr txBox="1"/>
          <p:nvPr/>
        </p:nvSpPr>
        <p:spPr>
          <a:xfrm>
            <a:off x="548640" y="914400"/>
            <a:ext cx="11155680" cy="548640"/>
          </a:xfrm>
          <a:prstGeom prst="rect">
            <a:avLst/>
          </a:prstGeom>
          <a:noFill/>
        </p:spPr>
        <p:txBody>
          <a:bodyPr wrap="square">
            <a:spAutoFit/>
          </a:bodyPr>
          <a:lstStyle/>
          <a:p>
            <a:pPr algn="l"/>
            <a:r>
              <a:rPr sz="1900" b="1" i="0">
                <a:solidFill>
                  <a:srgbClr val="2E86AB"/>
                </a:solidFill>
              </a:rPr>
              <a:t>ResNet18 keeps the GPUs busy less than half the time; both models use under 11% of GPU memory.</a:t>
            </a:r>
          </a:p>
        </p:txBody>
      </p:sp>
      <p:sp>
        <p:nvSpPr>
          <p:cNvPr id="5" name="TextBox 4"/>
          <p:cNvSpPr txBox="1"/>
          <p:nvPr/>
        </p:nvSpPr>
        <p:spPr>
          <a:xfrm>
            <a:off x="10881360" y="6400800"/>
            <a:ext cx="1005840" cy="365760"/>
          </a:xfrm>
          <a:prstGeom prst="rect">
            <a:avLst/>
          </a:prstGeom>
          <a:noFill/>
        </p:spPr>
        <p:txBody>
          <a:bodyPr wrap="square">
            <a:spAutoFit/>
          </a:bodyPr>
          <a:lstStyle/>
          <a:p>
            <a:pPr algn="r"/>
            <a:r>
              <a:rPr sz="1200" b="0" i="0">
                <a:solidFill>
                  <a:srgbClr val="5C677D"/>
                </a:solidFill>
              </a:rPr>
              <a:t>13</a:t>
            </a:r>
          </a:p>
        </p:txBody>
      </p:sp>
      <p:sp>
        <p:nvSpPr>
          <p:cNvPr id="6" name="TextBox 5"/>
          <p:cNvSpPr txBox="1"/>
          <p:nvPr/>
        </p:nvSpPr>
        <p:spPr>
          <a:xfrm>
            <a:off x="548640" y="6400800"/>
            <a:ext cx="7315200" cy="365760"/>
          </a:xfrm>
          <a:prstGeom prst="rect">
            <a:avLst/>
          </a:prstGeom>
          <a:noFill/>
        </p:spPr>
        <p:txBody>
          <a:bodyPr wrap="square">
            <a:spAutoFit/>
          </a:bodyPr>
          <a:lstStyle/>
          <a:p>
            <a:pPr algn="l"/>
            <a:r>
              <a:rPr sz="1200" b="0" i="0">
                <a:solidFill>
                  <a:srgbClr val="5C677D"/>
                </a:solidFill>
              </a:rPr>
              <a:t>Reproducing PowerSGD on Perlmutter</a:t>
            </a:r>
          </a:p>
        </p:txBody>
      </p:sp>
      <p:graphicFrame>
        <p:nvGraphicFramePr>
          <p:cNvPr id="7" name="Table 6"/>
          <p:cNvGraphicFramePr>
            <a:graphicFrameLocks noGrp="1"/>
          </p:cNvGraphicFramePr>
          <p:nvPr/>
        </p:nvGraphicFramePr>
        <p:xfrm>
          <a:off x="548640" y="1645920"/>
          <a:ext cx="11064240" cy="2286000"/>
        </p:xfrm>
        <a:graphic>
          <a:graphicData uri="http://schemas.openxmlformats.org/drawingml/2006/table">
            <a:tbl>
              <a:tblPr firstRow="1" bandRow="1">
                <a:tableStyleId>{5C22544A-7EE6-4342-B048-85BDC9FD1C3A}</a:tableStyleId>
              </a:tblPr>
              <a:tblGrid>
                <a:gridCol w="1737360"/>
                <a:gridCol w="2377440"/>
                <a:gridCol w="2194560"/>
                <a:gridCol w="2377440"/>
                <a:gridCol w="2377440"/>
              </a:tblGrid>
              <a:tr h="457200">
                <a:tc>
                  <a:txBody>
                    <a:bodyPr/>
                    <a:lstStyle/>
                    <a:p>
                      <a:r>
                        <a:rPr sz="1600" b="1">
                          <a:solidFill>
                            <a:srgbClr val="FFFFFF"/>
                          </a:solidFill>
                        </a:rPr>
                        <a:t>Method</a:t>
                      </a:r>
                    </a:p>
                  </a:txBody>
                  <a:tcPr>
                    <a:solidFill>
                      <a:srgbClr val="1B2A41"/>
                    </a:solidFill>
                  </a:tcPr>
                </a:tc>
                <a:tc>
                  <a:txBody>
                    <a:bodyPr/>
                    <a:lstStyle/>
                    <a:p>
                      <a:r>
                        <a:rPr sz="1600" b="1">
                          <a:solidFill>
                            <a:srgbClr val="FFFFFF"/>
                          </a:solidFill>
                        </a:rPr>
                        <a:t>ResNet18: GPU busy</a:t>
                      </a:r>
                    </a:p>
                  </a:txBody>
                  <a:tcPr>
                    <a:solidFill>
                      <a:srgbClr val="1B2A41"/>
                    </a:solidFill>
                  </a:tcPr>
                </a:tc>
                <a:tc>
                  <a:txBody>
                    <a:bodyPr/>
                    <a:lstStyle/>
                    <a:p>
                      <a:r>
                        <a:rPr sz="1600" b="1">
                          <a:solidFill>
                            <a:srgbClr val="FFFFFF"/>
                          </a:solidFill>
                        </a:rPr>
                        <a:t>ResNet18: memory</a:t>
                      </a:r>
                    </a:p>
                  </a:txBody>
                  <a:tcPr>
                    <a:solidFill>
                      <a:srgbClr val="1B2A41"/>
                    </a:solidFill>
                  </a:tcPr>
                </a:tc>
                <a:tc>
                  <a:txBody>
                    <a:bodyPr/>
                    <a:lstStyle/>
                    <a:p>
                      <a:r>
                        <a:rPr sz="1600" b="1">
                          <a:solidFill>
                            <a:srgbClr val="FFFFFF"/>
                          </a:solidFill>
                        </a:rPr>
                        <a:t>LSTM: GPU busy</a:t>
                      </a:r>
                    </a:p>
                  </a:txBody>
                  <a:tcPr>
                    <a:solidFill>
                      <a:srgbClr val="1B2A41"/>
                    </a:solidFill>
                  </a:tcPr>
                </a:tc>
                <a:tc>
                  <a:txBody>
                    <a:bodyPr/>
                    <a:lstStyle/>
                    <a:p>
                      <a:r>
                        <a:rPr sz="1600" b="1">
                          <a:solidFill>
                            <a:srgbClr val="FFFFFF"/>
                          </a:solidFill>
                        </a:rPr>
                        <a:t>LSTM: memory</a:t>
                      </a:r>
                    </a:p>
                  </a:txBody>
                  <a:tcPr>
                    <a:solidFill>
                      <a:srgbClr val="1B2A41"/>
                    </a:solidFill>
                  </a:tcPr>
                </a:tc>
              </a:tr>
              <a:tr h="457200">
                <a:tc>
                  <a:txBody>
                    <a:bodyPr/>
                    <a:lstStyle/>
                    <a:p>
                      <a:r>
                        <a:rPr sz="1600" b="1">
                          <a:solidFill>
                            <a:srgbClr val="1B2A41"/>
                          </a:solidFill>
                        </a:rPr>
                        <a:t>SGD</a:t>
                      </a:r>
                    </a:p>
                  </a:txBody>
                  <a:tcPr>
                    <a:solidFill>
                      <a:srgbClr val="EEF3F7"/>
                    </a:solidFill>
                  </a:tcPr>
                </a:tc>
                <a:tc>
                  <a:txBody>
                    <a:bodyPr/>
                    <a:lstStyle/>
                    <a:p>
                      <a:r>
                        <a:rPr sz="1600" b="0">
                          <a:solidFill>
                            <a:srgbClr val="1B2A41"/>
                          </a:solidFill>
                        </a:rPr>
                        <a:t>43-48%</a:t>
                      </a:r>
                    </a:p>
                  </a:txBody>
                  <a:tcPr>
                    <a:solidFill>
                      <a:srgbClr val="EEF3F7"/>
                    </a:solidFill>
                  </a:tcPr>
                </a:tc>
                <a:tc>
                  <a:txBody>
                    <a:bodyPr/>
                    <a:lstStyle/>
                    <a:p>
                      <a:r>
                        <a:rPr sz="1600" b="0">
                          <a:solidFill>
                            <a:srgbClr val="1B2A41"/>
                          </a:solidFill>
                        </a:rPr>
                        <a:t>2.6 GB</a:t>
                      </a:r>
                    </a:p>
                  </a:txBody>
                  <a:tcPr>
                    <a:solidFill>
                      <a:srgbClr val="EEF3F7"/>
                    </a:solidFill>
                  </a:tcPr>
                </a:tc>
                <a:tc>
                  <a:txBody>
                    <a:bodyPr/>
                    <a:lstStyle/>
                    <a:p>
                      <a:r>
                        <a:rPr sz="1600" b="0">
                          <a:solidFill>
                            <a:srgbClr val="1B2A41"/>
                          </a:solidFill>
                        </a:rPr>
                        <a:t>96%*</a:t>
                      </a:r>
                    </a:p>
                  </a:txBody>
                  <a:tcPr>
                    <a:solidFill>
                      <a:srgbClr val="EEF3F7"/>
                    </a:solidFill>
                  </a:tcPr>
                </a:tc>
                <a:tc>
                  <a:txBody>
                    <a:bodyPr/>
                    <a:lstStyle/>
                    <a:p>
                      <a:r>
                        <a:rPr sz="1600" b="0">
                          <a:solidFill>
                            <a:srgbClr val="1B2A41"/>
                          </a:solidFill>
                        </a:rPr>
                        <a:t>4.2 GB*</a:t>
                      </a:r>
                    </a:p>
                  </a:txBody>
                  <a:tcPr>
                    <a:solidFill>
                      <a:srgbClr val="EEF3F7"/>
                    </a:solidFill>
                  </a:tcPr>
                </a:tc>
              </a:tr>
              <a:tr h="457200">
                <a:tc>
                  <a:txBody>
                    <a:bodyPr/>
                    <a:lstStyle/>
                    <a:p>
                      <a:r>
                        <a:rPr sz="1600" b="1">
                          <a:solidFill>
                            <a:srgbClr val="1B2A41"/>
                          </a:solidFill>
                        </a:rPr>
                        <a:t>Rank 1</a:t>
                      </a:r>
                    </a:p>
                  </a:txBody>
                  <a:tcPr>
                    <a:solidFill>
                      <a:srgbClr val="FFFFFF"/>
                    </a:solidFill>
                  </a:tcPr>
                </a:tc>
                <a:tc>
                  <a:txBody>
                    <a:bodyPr/>
                    <a:lstStyle/>
                    <a:p>
                      <a:r>
                        <a:rPr sz="1600" b="0">
                          <a:solidFill>
                            <a:srgbClr val="1B2A41"/>
                          </a:solidFill>
                        </a:rPr>
                        <a:t>44-45%</a:t>
                      </a:r>
                    </a:p>
                  </a:txBody>
                  <a:tcPr>
                    <a:solidFill>
                      <a:srgbClr val="FFFFFF"/>
                    </a:solidFill>
                  </a:tcPr>
                </a:tc>
                <a:tc>
                  <a:txBody>
                    <a:bodyPr/>
                    <a:lstStyle/>
                    <a:p>
                      <a:r>
                        <a:rPr sz="1600" b="0">
                          <a:solidFill>
                            <a:srgbClr val="1B2A41"/>
                          </a:solidFill>
                        </a:rPr>
                        <a:t>2.5 GB</a:t>
                      </a:r>
                    </a:p>
                  </a:txBody>
                  <a:tcPr>
                    <a:solidFill>
                      <a:srgbClr val="FFFFFF"/>
                    </a:solidFill>
                  </a:tcPr>
                </a:tc>
                <a:tc>
                  <a:txBody>
                    <a:bodyPr/>
                    <a:lstStyle/>
                    <a:p>
                      <a:r>
                        <a:rPr sz="1600" b="0">
                          <a:solidFill>
                            <a:srgbClr val="1B2A41"/>
                          </a:solidFill>
                        </a:rPr>
                        <a:t>96%</a:t>
                      </a:r>
                    </a:p>
                  </a:txBody>
                  <a:tcPr>
                    <a:solidFill>
                      <a:srgbClr val="FFFFFF"/>
                    </a:solidFill>
                  </a:tcPr>
                </a:tc>
                <a:tc>
                  <a:txBody>
                    <a:bodyPr/>
                    <a:lstStyle/>
                    <a:p>
                      <a:r>
                        <a:rPr sz="1600" b="0">
                          <a:solidFill>
                            <a:srgbClr val="1B2A41"/>
                          </a:solidFill>
                        </a:rPr>
                        <a:t>4.1 GB</a:t>
                      </a:r>
                    </a:p>
                  </a:txBody>
                  <a:tcPr>
                    <a:solidFill>
                      <a:srgbClr val="FFFFFF"/>
                    </a:solidFill>
                  </a:tcPr>
                </a:tc>
              </a:tr>
              <a:tr h="457200">
                <a:tc>
                  <a:txBody>
                    <a:bodyPr/>
                    <a:lstStyle/>
                    <a:p>
                      <a:r>
                        <a:rPr sz="1600" b="1">
                          <a:solidFill>
                            <a:srgbClr val="1B2A41"/>
                          </a:solidFill>
                        </a:rPr>
                        <a:t>Rank 2</a:t>
                      </a:r>
                    </a:p>
                  </a:txBody>
                  <a:tcPr>
                    <a:solidFill>
                      <a:srgbClr val="EEF3F7"/>
                    </a:solidFill>
                  </a:tcPr>
                </a:tc>
                <a:tc>
                  <a:txBody>
                    <a:bodyPr/>
                    <a:lstStyle/>
                    <a:p>
                      <a:r>
                        <a:rPr sz="1600" b="0">
                          <a:solidFill>
                            <a:srgbClr val="1B2A41"/>
                          </a:solidFill>
                        </a:rPr>
                        <a:t>46%</a:t>
                      </a:r>
                    </a:p>
                  </a:txBody>
                  <a:tcPr>
                    <a:solidFill>
                      <a:srgbClr val="EEF3F7"/>
                    </a:solidFill>
                  </a:tcPr>
                </a:tc>
                <a:tc>
                  <a:txBody>
                    <a:bodyPr/>
                    <a:lstStyle/>
                    <a:p>
                      <a:r>
                        <a:rPr sz="1600" b="0">
                          <a:solidFill>
                            <a:srgbClr val="1B2A41"/>
                          </a:solidFill>
                        </a:rPr>
                        <a:t>2.5 GB</a:t>
                      </a:r>
                    </a:p>
                  </a:txBody>
                  <a:tcPr>
                    <a:solidFill>
                      <a:srgbClr val="EEF3F7"/>
                    </a:solidFill>
                  </a:tcPr>
                </a:tc>
                <a:tc>
                  <a:txBody>
                    <a:bodyPr/>
                    <a:lstStyle/>
                    <a:p>
                      <a:r>
                        <a:rPr sz="1600" b="0">
                          <a:solidFill>
                            <a:srgbClr val="1B2A41"/>
                          </a:solidFill>
                        </a:rPr>
                        <a:t>96%</a:t>
                      </a:r>
                    </a:p>
                  </a:txBody>
                  <a:tcPr>
                    <a:solidFill>
                      <a:srgbClr val="EEF3F7"/>
                    </a:solidFill>
                  </a:tcPr>
                </a:tc>
                <a:tc>
                  <a:txBody>
                    <a:bodyPr/>
                    <a:lstStyle/>
                    <a:p>
                      <a:r>
                        <a:rPr sz="1600" b="0">
                          <a:solidFill>
                            <a:srgbClr val="1B2A41"/>
                          </a:solidFill>
                        </a:rPr>
                        <a:t>4.2 GB</a:t>
                      </a:r>
                    </a:p>
                  </a:txBody>
                  <a:tcPr>
                    <a:solidFill>
                      <a:srgbClr val="EEF3F7"/>
                    </a:solidFill>
                  </a:tcPr>
                </a:tc>
              </a:tr>
              <a:tr h="457200">
                <a:tc>
                  <a:txBody>
                    <a:bodyPr/>
                    <a:lstStyle/>
                    <a:p>
                      <a:r>
                        <a:rPr sz="1600" b="1">
                          <a:solidFill>
                            <a:srgbClr val="1B2A41"/>
                          </a:solidFill>
                        </a:rPr>
                        <a:t>Rank 4</a:t>
                      </a:r>
                    </a:p>
                  </a:txBody>
                  <a:tcPr>
                    <a:solidFill>
                      <a:srgbClr val="FFFFFF"/>
                    </a:solidFill>
                  </a:tcPr>
                </a:tc>
                <a:tc>
                  <a:txBody>
                    <a:bodyPr/>
                    <a:lstStyle/>
                    <a:p>
                      <a:r>
                        <a:rPr sz="1600" b="0">
                          <a:solidFill>
                            <a:srgbClr val="1B2A41"/>
                          </a:solidFill>
                        </a:rPr>
                        <a:t>46-48%</a:t>
                      </a:r>
                    </a:p>
                  </a:txBody>
                  <a:tcPr>
                    <a:solidFill>
                      <a:srgbClr val="FFFFFF"/>
                    </a:solidFill>
                  </a:tcPr>
                </a:tc>
                <a:tc>
                  <a:txBody>
                    <a:bodyPr/>
                    <a:lstStyle/>
                    <a:p>
                      <a:r>
                        <a:rPr sz="1600" b="0">
                          <a:solidFill>
                            <a:srgbClr val="1B2A41"/>
                          </a:solidFill>
                        </a:rPr>
                        <a:t>2.5 GB</a:t>
                      </a:r>
                    </a:p>
                  </a:txBody>
                  <a:tcPr>
                    <a:solidFill>
                      <a:srgbClr val="FFFFFF"/>
                    </a:solidFill>
                  </a:tcPr>
                </a:tc>
                <a:tc>
                  <a:txBody>
                    <a:bodyPr/>
                    <a:lstStyle/>
                    <a:p>
                      <a:r>
                        <a:rPr sz="1600" b="0">
                          <a:solidFill>
                            <a:srgbClr val="1B2A41"/>
                          </a:solidFill>
                        </a:rPr>
                        <a:t>95%</a:t>
                      </a:r>
                    </a:p>
                  </a:txBody>
                  <a:tcPr>
                    <a:solidFill>
                      <a:srgbClr val="FFFFFF"/>
                    </a:solidFill>
                  </a:tcPr>
                </a:tc>
                <a:tc>
                  <a:txBody>
                    <a:bodyPr/>
                    <a:lstStyle/>
                    <a:p>
                      <a:r>
                        <a:rPr sz="1600" b="0">
                          <a:solidFill>
                            <a:srgbClr val="1B2A41"/>
                          </a:solidFill>
                        </a:rPr>
                        <a:t>4.1 GB</a:t>
                      </a:r>
                    </a:p>
                  </a:txBody>
                  <a:tcPr>
                    <a:solidFill>
                      <a:srgbClr val="FFFFFF"/>
                    </a:solidFill>
                  </a:tcPr>
                </a:tc>
              </a:tr>
            </a:tbl>
          </a:graphicData>
        </a:graphic>
      </p:graphicFrame>
      <p:sp>
        <p:nvSpPr>
          <p:cNvPr id="8" name="TextBox 7"/>
          <p:cNvSpPr txBox="1"/>
          <p:nvPr/>
        </p:nvSpPr>
        <p:spPr>
          <a:xfrm>
            <a:off x="548640" y="4160520"/>
            <a:ext cx="11155680" cy="2194560"/>
          </a:xfrm>
          <a:prstGeom prst="rect">
            <a:avLst/>
          </a:prstGeom>
          <a:noFill/>
        </p:spPr>
        <p:txBody>
          <a:bodyPr wrap="square">
            <a:spAutoFit/>
          </a:bodyPr>
          <a:lstStyle/>
          <a:p>
            <a:pPr>
              <a:spcAft>
                <a:spcPts val="800"/>
              </a:spcAft>
            </a:pPr>
            <a:r>
              <a:rPr sz="1500" b="1">
                <a:solidFill>
                  <a:srgbClr val="2E86AB"/>
                </a:solidFill>
              </a:rPr>
              <a:t>•  </a:t>
            </a:r>
            <a:r>
              <a:rPr sz="1500" b="1">
                <a:solidFill>
                  <a:srgbClr val="1B2A41"/>
                </a:solidFill>
              </a:rPr>
              <a:t>GPU busy </a:t>
            </a:r>
            <a:r>
              <a:rPr sz="1500">
                <a:solidFill>
                  <a:srgbClr val="1B2A41"/>
                </a:solidFill>
              </a:rPr>
              <a:t>= average share of time a kernel was running (Slurm/NVML), over all 16 GPUs and the whole run. Communication kernels count as busy, so this is not useful-compute efficiency.</a:t>
            </a:r>
          </a:p>
          <a:p>
            <a:pPr>
              <a:spcAft>
                <a:spcPts val="800"/>
              </a:spcAft>
            </a:pPr>
            <a:r>
              <a:rPr sz="1500" b="1">
                <a:solidFill>
                  <a:srgbClr val="2E86AB"/>
                </a:solidFill>
              </a:rPr>
              <a:t>•  </a:t>
            </a:r>
            <a:r>
              <a:rPr sz="1500" b="1">
                <a:solidFill>
                  <a:srgbClr val="1B2A41"/>
                </a:solidFill>
              </a:rPr>
              <a:t>ResNet18 leaves the A100s idle more than half the time: </a:t>
            </a:r>
            <a:r>
              <a:rPr sz="1500">
                <a:solidFill>
                  <a:srgbClr val="1B2A41"/>
                </a:solidFill>
              </a:rPr>
              <a:t>128 small images per GPU per step is too little work, so launch overhead, data loading and synchronization dominate.</a:t>
            </a:r>
          </a:p>
          <a:p>
            <a:pPr>
              <a:spcAft>
                <a:spcPts val="800"/>
              </a:spcAft>
            </a:pPr>
            <a:r>
              <a:rPr sz="1500" b="1">
                <a:solidFill>
                  <a:srgbClr val="2E86AB"/>
                </a:solidFill>
              </a:rPr>
              <a:t>•  </a:t>
            </a:r>
            <a:r>
              <a:rPr sz="1500" b="1">
                <a:solidFill>
                  <a:srgbClr val="1B2A41"/>
                </a:solidFill>
              </a:rPr>
              <a:t>Memory: </a:t>
            </a:r>
            <a:r>
              <a:rPr sz="1500">
                <a:solidFill>
                  <a:srgbClr val="1B2A41"/>
                </a:solidFill>
              </a:rPr>
              <a:t>2.5-4.2 GB of 40 GB per GPU. Larger models are where gradient compression should matter.</a:t>
            </a:r>
          </a:p>
        </p:txBody>
      </p:sp>
      <p:sp>
        <p:nvSpPr>
          <p:cNvPr id="9" name="TextBox 8"/>
          <p:cNvSpPr txBox="1"/>
          <p:nvPr/>
        </p:nvSpPr>
        <p:spPr>
          <a:xfrm>
            <a:off x="548640" y="6035040"/>
            <a:ext cx="11064240" cy="365760"/>
          </a:xfrm>
          <a:prstGeom prst="rect">
            <a:avLst/>
          </a:prstGeom>
          <a:noFill/>
        </p:spPr>
        <p:txBody>
          <a:bodyPr wrap="square">
            <a:spAutoFit/>
          </a:bodyPr>
          <a:lstStyle/>
          <a:p>
            <a:pPr algn="l"/>
            <a:r>
              <a:rPr sz="1200" b="0" i="1">
                <a:solidFill>
                  <a:srgbClr val="5C677D"/>
                </a:solidFill>
              </a:rPr>
              <a:t>* 2 of 3 seeds; Slurm has no GPU record for LSTM SGD seed 3. Per-job values: results/paper_reproduction/gpu_usage.txt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155680" cy="731520"/>
          </a:xfrm>
          <a:prstGeom prst="rect">
            <a:avLst/>
          </a:prstGeom>
          <a:noFill/>
        </p:spPr>
        <p:txBody>
          <a:bodyPr wrap="square">
            <a:spAutoFit/>
          </a:bodyPr>
          <a:lstStyle/>
          <a:p>
            <a:pPr algn="l"/>
            <a:r>
              <a:rPr sz="3000" b="1" i="0">
                <a:solidFill>
                  <a:srgbClr val="1B2A41"/>
                </a:solidFill>
              </a:rPr>
              <a:t>Scorecard</a:t>
            </a:r>
          </a:p>
        </p:txBody>
      </p:sp>
      <p:sp>
        <p:nvSpPr>
          <p:cNvPr id="4" name="TextBox 3"/>
          <p:cNvSpPr txBox="1"/>
          <p:nvPr/>
        </p:nvSpPr>
        <p:spPr>
          <a:xfrm>
            <a:off x="548640" y="914400"/>
            <a:ext cx="11155680" cy="548640"/>
          </a:xfrm>
          <a:prstGeom prst="rect">
            <a:avLst/>
          </a:prstGeom>
          <a:noFill/>
        </p:spPr>
        <p:txBody>
          <a:bodyPr wrap="square">
            <a:spAutoFit/>
          </a:bodyPr>
          <a:lstStyle/>
          <a:p>
            <a:pPr algn="l"/>
            <a:r>
              <a:rPr sz="1900" b="1" i="0">
                <a:solidFill>
                  <a:srgbClr val="2E86AB"/>
                </a:solidFill>
              </a:rPr>
              <a:t>Accuracy and compression are properties of the algorithm; speedup depends on the hardware.</a:t>
            </a:r>
          </a:p>
        </p:txBody>
      </p:sp>
      <p:sp>
        <p:nvSpPr>
          <p:cNvPr id="5" name="TextBox 4"/>
          <p:cNvSpPr txBox="1"/>
          <p:nvPr/>
        </p:nvSpPr>
        <p:spPr>
          <a:xfrm>
            <a:off x="10881360" y="6400800"/>
            <a:ext cx="1005840" cy="365760"/>
          </a:xfrm>
          <a:prstGeom prst="rect">
            <a:avLst/>
          </a:prstGeom>
          <a:noFill/>
        </p:spPr>
        <p:txBody>
          <a:bodyPr wrap="square">
            <a:spAutoFit/>
          </a:bodyPr>
          <a:lstStyle/>
          <a:p>
            <a:pPr algn="r"/>
            <a:r>
              <a:rPr sz="1200" b="0" i="0">
                <a:solidFill>
                  <a:srgbClr val="5C677D"/>
                </a:solidFill>
              </a:rPr>
              <a:t>14</a:t>
            </a:r>
          </a:p>
        </p:txBody>
      </p:sp>
      <p:sp>
        <p:nvSpPr>
          <p:cNvPr id="6" name="TextBox 5"/>
          <p:cNvSpPr txBox="1"/>
          <p:nvPr/>
        </p:nvSpPr>
        <p:spPr>
          <a:xfrm>
            <a:off x="548640" y="6400800"/>
            <a:ext cx="7315200" cy="365760"/>
          </a:xfrm>
          <a:prstGeom prst="rect">
            <a:avLst/>
          </a:prstGeom>
          <a:noFill/>
        </p:spPr>
        <p:txBody>
          <a:bodyPr wrap="square">
            <a:spAutoFit/>
          </a:bodyPr>
          <a:lstStyle/>
          <a:p>
            <a:pPr algn="l"/>
            <a:r>
              <a:rPr sz="1200" b="0" i="0">
                <a:solidFill>
                  <a:srgbClr val="5C677D"/>
                </a:solidFill>
              </a:rPr>
              <a:t>Reproducing PowerSGD on Perlmutter</a:t>
            </a:r>
          </a:p>
        </p:txBody>
      </p:sp>
      <p:graphicFrame>
        <p:nvGraphicFramePr>
          <p:cNvPr id="7" name="Table 6"/>
          <p:cNvGraphicFramePr>
            <a:graphicFrameLocks noGrp="1"/>
          </p:cNvGraphicFramePr>
          <p:nvPr/>
        </p:nvGraphicFramePr>
        <p:xfrm>
          <a:off x="548640" y="1691640"/>
          <a:ext cx="11064240" cy="3712463"/>
        </p:xfrm>
        <a:graphic>
          <a:graphicData uri="http://schemas.openxmlformats.org/drawingml/2006/table">
            <a:tbl>
              <a:tblPr firstRow="1" bandRow="1">
                <a:tableStyleId>{5C22544A-7EE6-4342-B048-85BDC9FD1C3A}</a:tableStyleId>
              </a:tblPr>
              <a:tblGrid>
                <a:gridCol w="3566160"/>
                <a:gridCol w="2743200"/>
                <a:gridCol w="2834640"/>
                <a:gridCol w="1920240"/>
              </a:tblGrid>
              <a:tr h="530351">
                <a:tc>
                  <a:txBody>
                    <a:bodyPr/>
                    <a:lstStyle/>
                    <a:p>
                      <a:r>
                        <a:rPr sz="1600" b="1">
                          <a:solidFill>
                            <a:srgbClr val="FFFFFF"/>
                          </a:solidFill>
                        </a:rPr>
                        <a:t>Claim</a:t>
                      </a:r>
                    </a:p>
                  </a:txBody>
                  <a:tcPr>
                    <a:solidFill>
                      <a:srgbClr val="1B2A41"/>
                    </a:solidFill>
                  </a:tcPr>
                </a:tc>
                <a:tc>
                  <a:txBody>
                    <a:bodyPr/>
                    <a:lstStyle/>
                    <a:p>
                      <a:r>
                        <a:rPr sz="1600" b="1">
                          <a:solidFill>
                            <a:srgbClr val="FFFFFF"/>
                          </a:solidFill>
                        </a:rPr>
                        <a:t>Paper</a:t>
                      </a:r>
                    </a:p>
                  </a:txBody>
                  <a:tcPr>
                    <a:solidFill>
                      <a:srgbClr val="1B2A41"/>
                    </a:solidFill>
                  </a:tcPr>
                </a:tc>
                <a:tc>
                  <a:txBody>
                    <a:bodyPr/>
                    <a:lstStyle/>
                    <a:p>
                      <a:r>
                        <a:rPr sz="1600" b="1">
                          <a:solidFill>
                            <a:srgbClr val="FFFFFF"/>
                          </a:solidFill>
                        </a:rPr>
                        <a:t>Ours</a:t>
                      </a:r>
                    </a:p>
                  </a:txBody>
                  <a:tcPr>
                    <a:solidFill>
                      <a:srgbClr val="1B2A41"/>
                    </a:solidFill>
                  </a:tcPr>
                </a:tc>
                <a:tc>
                  <a:txBody>
                    <a:bodyPr/>
                    <a:lstStyle/>
                    <a:p>
                      <a:r>
                        <a:rPr sz="1600" b="1">
                          <a:solidFill>
                            <a:srgbClr val="FFFFFF"/>
                          </a:solidFill>
                        </a:rPr>
                        <a:t>Reproduced?</a:t>
                      </a:r>
                    </a:p>
                  </a:txBody>
                  <a:tcPr>
                    <a:solidFill>
                      <a:srgbClr val="1B2A41"/>
                    </a:solidFill>
                  </a:tcPr>
                </a:tc>
              </a:tr>
              <a:tr h="530351">
                <a:tc>
                  <a:txBody>
                    <a:bodyPr/>
                    <a:lstStyle/>
                    <a:p>
                      <a:r>
                        <a:rPr sz="1600" b="1">
                          <a:solidFill>
                            <a:srgbClr val="1B2A41"/>
                          </a:solidFill>
                        </a:rPr>
                        <a:t>Accuracy on par with SGD (CIFAR-10)</a:t>
                      </a:r>
                    </a:p>
                  </a:txBody>
                  <a:tcPr>
                    <a:solidFill>
                      <a:srgbClr val="EEF3F7"/>
                    </a:solidFill>
                  </a:tcPr>
                </a:tc>
                <a:tc>
                  <a:txBody>
                    <a:bodyPr/>
                    <a:lstStyle/>
                    <a:p>
                      <a:r>
                        <a:rPr sz="1600" b="0">
                          <a:solidFill>
                            <a:srgbClr val="1B2A41"/>
                          </a:solidFill>
                        </a:rPr>
                        <a:t>Rank 2: 94.4% vs 94.3%</a:t>
                      </a:r>
                    </a:p>
                  </a:txBody>
                  <a:tcPr>
                    <a:solidFill>
                      <a:srgbClr val="EEF3F7"/>
                    </a:solidFill>
                  </a:tcPr>
                </a:tc>
                <a:tc>
                  <a:txBody>
                    <a:bodyPr/>
                    <a:lstStyle/>
                    <a:p>
                      <a:r>
                        <a:rPr sz="1600" b="0">
                          <a:solidFill>
                            <a:srgbClr val="1B2A41"/>
                          </a:solidFill>
                        </a:rPr>
                        <a:t>Rank 2: 94.4% vs 94.1%</a:t>
                      </a:r>
                    </a:p>
                  </a:txBody>
                  <a:tcPr>
                    <a:solidFill>
                      <a:srgbClr val="EEF3F7"/>
                    </a:solidFill>
                  </a:tcPr>
                </a:tc>
                <a:tc>
                  <a:txBody>
                    <a:bodyPr/>
                    <a:lstStyle/>
                    <a:p>
                      <a:r>
                        <a:rPr sz="1600" b="1">
                          <a:solidFill>
                            <a:srgbClr val="3A9D5D"/>
                          </a:solidFill>
                        </a:rPr>
                        <a:t>✓ Yes</a:t>
                      </a:r>
                    </a:p>
                  </a:txBody>
                  <a:tcPr>
                    <a:solidFill>
                      <a:srgbClr val="EEF3F7"/>
                    </a:solidFill>
                  </a:tcPr>
                </a:tc>
              </a:tr>
              <a:tr h="530351">
                <a:tc>
                  <a:txBody>
                    <a:bodyPr/>
                    <a:lstStyle/>
                    <a:p>
                      <a:r>
                        <a:rPr sz="1600" b="1">
                          <a:solidFill>
                            <a:srgbClr val="1B2A41"/>
                          </a:solidFill>
                        </a:rPr>
                        <a:t>LSTM: Rank 4 matches SGD</a:t>
                      </a:r>
                    </a:p>
                  </a:txBody>
                  <a:tcPr>
                    <a:solidFill>
                      <a:srgbClr val="FFFFFF"/>
                    </a:solidFill>
                  </a:tcPr>
                </a:tc>
                <a:tc>
                  <a:txBody>
                    <a:bodyPr/>
                    <a:lstStyle/>
                    <a:p>
                      <a:r>
                        <a:rPr sz="1600" b="0">
                          <a:solidFill>
                            <a:srgbClr val="1B2A41"/>
                          </a:solidFill>
                        </a:rPr>
                        <a:t>91 vs 91 perplexity</a:t>
                      </a:r>
                    </a:p>
                  </a:txBody>
                  <a:tcPr>
                    <a:solidFill>
                      <a:srgbClr val="FFFFFF"/>
                    </a:solidFill>
                  </a:tcPr>
                </a:tc>
                <a:tc>
                  <a:txBody>
                    <a:bodyPr/>
                    <a:lstStyle/>
                    <a:p>
                      <a:r>
                        <a:rPr sz="1600" b="0">
                          <a:solidFill>
                            <a:srgbClr val="1B2A41"/>
                          </a:solidFill>
                        </a:rPr>
                        <a:t>98.9 vs 99.6 perplexity</a:t>
                      </a:r>
                    </a:p>
                  </a:txBody>
                  <a:tcPr>
                    <a:solidFill>
                      <a:srgbClr val="FFFFFF"/>
                    </a:solidFill>
                  </a:tcPr>
                </a:tc>
                <a:tc>
                  <a:txBody>
                    <a:bodyPr/>
                    <a:lstStyle/>
                    <a:p>
                      <a:r>
                        <a:rPr sz="1600" b="1">
                          <a:solidFill>
                            <a:srgbClr val="3A9D5D"/>
                          </a:solidFill>
                        </a:rPr>
                        <a:t>✓ Yes (relative)</a:t>
                      </a:r>
                    </a:p>
                  </a:txBody>
                  <a:tcPr>
                    <a:solidFill>
                      <a:srgbClr val="FFFFFF"/>
                    </a:solidFill>
                  </a:tcPr>
                </a:tc>
              </a:tr>
              <a:tr h="530351">
                <a:tc>
                  <a:txBody>
                    <a:bodyPr/>
                    <a:lstStyle/>
                    <a:p>
                      <a:r>
                        <a:rPr sz="1600" b="1">
                          <a:solidFill>
                            <a:srgbClr val="1B2A41"/>
                          </a:solidFill>
                        </a:rPr>
                        <a:t>Quality improves with rank</a:t>
                      </a:r>
                    </a:p>
                  </a:txBody>
                  <a:tcPr>
                    <a:solidFill>
                      <a:srgbClr val="EEF3F7"/>
                    </a:solidFill>
                  </a:tcPr>
                </a:tc>
                <a:tc>
                  <a:txBody>
                    <a:bodyPr/>
                    <a:lstStyle/>
                    <a:p>
                      <a:r>
                        <a:rPr sz="1600" b="0">
                          <a:solidFill>
                            <a:srgbClr val="1B2A41"/>
                          </a:solidFill>
                        </a:rPr>
                        <a:t>Rank 1 &lt; 2 &lt; 4</a:t>
                      </a:r>
                    </a:p>
                  </a:txBody>
                  <a:tcPr>
                    <a:solidFill>
                      <a:srgbClr val="EEF3F7"/>
                    </a:solidFill>
                  </a:tcPr>
                </a:tc>
                <a:tc>
                  <a:txBody>
                    <a:bodyPr/>
                    <a:lstStyle/>
                    <a:p>
                      <a:r>
                        <a:rPr sz="1600" b="0">
                          <a:solidFill>
                            <a:srgbClr val="1B2A41"/>
                          </a:solidFill>
                        </a:rPr>
                        <a:t>Rank 1 &lt; 2 &lt; 4 (both tasks)</a:t>
                      </a:r>
                    </a:p>
                  </a:txBody>
                  <a:tcPr>
                    <a:solidFill>
                      <a:srgbClr val="EEF3F7"/>
                    </a:solidFill>
                  </a:tcPr>
                </a:tc>
                <a:tc>
                  <a:txBody>
                    <a:bodyPr/>
                    <a:lstStyle/>
                    <a:p>
                      <a:r>
                        <a:rPr sz="1600" b="1">
                          <a:solidFill>
                            <a:srgbClr val="3A9D5D"/>
                          </a:solidFill>
                        </a:rPr>
                        <a:t>✓ Yes</a:t>
                      </a:r>
                    </a:p>
                  </a:txBody>
                  <a:tcPr>
                    <a:solidFill>
                      <a:srgbClr val="EEF3F7"/>
                    </a:solidFill>
                  </a:tcPr>
                </a:tc>
              </a:tr>
              <a:tr h="530351">
                <a:tc>
                  <a:txBody>
                    <a:bodyPr/>
                    <a:lstStyle/>
                    <a:p>
                      <a:r>
                        <a:rPr sz="1600" b="1">
                          <a:solidFill>
                            <a:srgbClr val="1B2A41"/>
                          </a:solidFill>
                        </a:rPr>
                        <a:t>Communication reduction</a:t>
                      </a:r>
                    </a:p>
                  </a:txBody>
                  <a:tcPr>
                    <a:solidFill>
                      <a:srgbClr val="FFFFFF"/>
                    </a:solidFill>
                  </a:tcPr>
                </a:tc>
                <a:tc>
                  <a:txBody>
                    <a:bodyPr/>
                    <a:lstStyle/>
                    <a:p>
                      <a:r>
                        <a:rPr sz="1600" b="0">
                          <a:solidFill>
                            <a:srgbClr val="1B2A41"/>
                          </a:solidFill>
                        </a:rPr>
                        <a:t>136× (Rank 2, ResNet18)</a:t>
                      </a:r>
                    </a:p>
                  </a:txBody>
                  <a:tcPr>
                    <a:solidFill>
                      <a:srgbClr val="FFFFFF"/>
                    </a:solidFill>
                  </a:tcPr>
                </a:tc>
                <a:tc>
                  <a:txBody>
                    <a:bodyPr/>
                    <a:lstStyle/>
                    <a:p>
                      <a:r>
                        <a:rPr sz="1600" b="0">
                          <a:solidFill>
                            <a:srgbClr val="1B2A41"/>
                          </a:solidFill>
                        </a:rPr>
                        <a:t>Same MB per epoch</a:t>
                      </a:r>
                    </a:p>
                  </a:txBody>
                  <a:tcPr>
                    <a:solidFill>
                      <a:srgbClr val="FFFFFF"/>
                    </a:solidFill>
                  </a:tcPr>
                </a:tc>
                <a:tc>
                  <a:txBody>
                    <a:bodyPr/>
                    <a:lstStyle/>
                    <a:p>
                      <a:r>
                        <a:rPr sz="1600" b="1">
                          <a:solidFill>
                            <a:srgbClr val="3A9D5D"/>
                          </a:solidFill>
                        </a:rPr>
                        <a:t>✓ Yes</a:t>
                      </a:r>
                    </a:p>
                  </a:txBody>
                  <a:tcPr>
                    <a:solidFill>
                      <a:srgbClr val="FFFFFF"/>
                    </a:solidFill>
                  </a:tcPr>
                </a:tc>
              </a:tr>
              <a:tr h="530351">
                <a:tc>
                  <a:txBody>
                    <a:bodyPr/>
                    <a:lstStyle/>
                    <a:p>
                      <a:r>
                        <a:rPr sz="1600" b="1">
                          <a:solidFill>
                            <a:srgbClr val="1B2A41"/>
                          </a:solidFill>
                        </a:rPr>
                        <a:t>Speedup, ResNet18</a:t>
                      </a:r>
                    </a:p>
                  </a:txBody>
                  <a:tcPr>
                    <a:solidFill>
                      <a:srgbClr val="EEF3F7"/>
                    </a:solidFill>
                  </a:tcPr>
                </a:tc>
                <a:tc>
                  <a:txBody>
                    <a:bodyPr/>
                    <a:lstStyle/>
                    <a:p>
                      <a:r>
                        <a:rPr sz="1600" b="0">
                          <a:solidFill>
                            <a:srgbClr val="1B2A41"/>
                          </a:solidFill>
                        </a:rPr>
                        <a:t>−23% per batch (Rank 2)</a:t>
                      </a:r>
                    </a:p>
                  </a:txBody>
                  <a:tcPr>
                    <a:solidFill>
                      <a:srgbClr val="EEF3F7"/>
                    </a:solidFill>
                  </a:tcPr>
                </a:tc>
                <a:tc>
                  <a:txBody>
                    <a:bodyPr/>
                    <a:lstStyle/>
                    <a:p>
                      <a:r>
                        <a:rPr sz="1600" b="0">
                          <a:solidFill>
                            <a:srgbClr val="1B2A41"/>
                          </a:solidFill>
                        </a:rPr>
                        <a:t>+13% per batch</a:t>
                      </a:r>
                    </a:p>
                  </a:txBody>
                  <a:tcPr>
                    <a:solidFill>
                      <a:srgbClr val="EEF3F7"/>
                    </a:solidFill>
                  </a:tcPr>
                </a:tc>
                <a:tc>
                  <a:txBody>
                    <a:bodyPr/>
                    <a:lstStyle/>
                    <a:p>
                      <a:r>
                        <a:rPr sz="1600" b="1">
                          <a:solidFill>
                            <a:srgbClr val="C8553D"/>
                          </a:solidFill>
                        </a:rPr>
                        <a:t>✗ No</a:t>
                      </a:r>
                    </a:p>
                  </a:txBody>
                  <a:tcPr>
                    <a:solidFill>
                      <a:srgbClr val="EEF3F7"/>
                    </a:solidFill>
                  </a:tcPr>
                </a:tc>
              </a:tr>
              <a:tr h="530357">
                <a:tc>
                  <a:txBody>
                    <a:bodyPr/>
                    <a:lstStyle/>
                    <a:p>
                      <a:r>
                        <a:rPr sz="1600" b="1">
                          <a:solidFill>
                            <a:srgbClr val="1B2A41"/>
                          </a:solidFill>
                        </a:rPr>
                        <a:t>Speedup, LSTM</a:t>
                      </a:r>
                    </a:p>
                  </a:txBody>
                  <a:tcPr>
                    <a:solidFill>
                      <a:srgbClr val="FFFFFF"/>
                    </a:solidFill>
                  </a:tcPr>
                </a:tc>
                <a:tc>
                  <a:txBody>
                    <a:bodyPr/>
                    <a:lstStyle/>
                    <a:p>
                      <a:r>
                        <a:rPr sz="1600" b="0">
                          <a:solidFill>
                            <a:srgbClr val="1B2A41"/>
                          </a:solidFill>
                        </a:rPr>
                        <a:t>−55% per batch (Rank 4)</a:t>
                      </a:r>
                    </a:p>
                  </a:txBody>
                  <a:tcPr>
                    <a:solidFill>
                      <a:srgbClr val="FFFFFF"/>
                    </a:solidFill>
                  </a:tcPr>
                </a:tc>
                <a:tc>
                  <a:txBody>
                    <a:bodyPr/>
                    <a:lstStyle/>
                    <a:p>
                      <a:r>
                        <a:rPr sz="1600" b="0">
                          <a:solidFill>
                            <a:srgbClr val="1B2A41"/>
                          </a:solidFill>
                        </a:rPr>
                        <a:t>−3% per batch</a:t>
                      </a:r>
                    </a:p>
                  </a:txBody>
                  <a:tcPr>
                    <a:solidFill>
                      <a:srgbClr val="FFFFFF"/>
                    </a:solidFill>
                  </a:tcPr>
                </a:tc>
                <a:tc>
                  <a:txBody>
                    <a:bodyPr/>
                    <a:lstStyle/>
                    <a:p>
                      <a:r>
                        <a:rPr sz="1600" b="1">
                          <a:solidFill>
                            <a:srgbClr val="C8553D"/>
                          </a:solidFill>
                        </a:rPr>
                        <a:t>✗ Mostly not</a:t>
                      </a:r>
                    </a:p>
                  </a:txBody>
                  <a:tcPr>
                    <a:solidFill>
                      <a:srgbClr val="FFFFFF"/>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155680" cy="731520"/>
          </a:xfrm>
          <a:prstGeom prst="rect">
            <a:avLst/>
          </a:prstGeom>
          <a:noFill/>
        </p:spPr>
        <p:txBody>
          <a:bodyPr wrap="square">
            <a:spAutoFit/>
          </a:bodyPr>
          <a:lstStyle/>
          <a:p>
            <a:pPr algn="l"/>
            <a:r>
              <a:rPr sz="3000" b="1" i="0">
                <a:solidFill>
                  <a:srgbClr val="1B2A41"/>
                </a:solidFill>
              </a:rPr>
              <a:t>Takeaways and next steps</a:t>
            </a:r>
          </a:p>
        </p:txBody>
      </p:sp>
      <p:sp>
        <p:nvSpPr>
          <p:cNvPr id="4" name="TextBox 3"/>
          <p:cNvSpPr txBox="1"/>
          <p:nvPr/>
        </p:nvSpPr>
        <p:spPr>
          <a:xfrm>
            <a:off x="10881360" y="6400800"/>
            <a:ext cx="1005840" cy="365760"/>
          </a:xfrm>
          <a:prstGeom prst="rect">
            <a:avLst/>
          </a:prstGeom>
          <a:noFill/>
        </p:spPr>
        <p:txBody>
          <a:bodyPr wrap="square">
            <a:spAutoFit/>
          </a:bodyPr>
          <a:lstStyle/>
          <a:p>
            <a:pPr algn="r"/>
            <a:r>
              <a:rPr sz="1200" b="0" i="0">
                <a:solidFill>
                  <a:srgbClr val="5C677D"/>
                </a:solidFill>
              </a:rPr>
              <a:t>15</a:t>
            </a:r>
          </a:p>
        </p:txBody>
      </p:sp>
      <p:sp>
        <p:nvSpPr>
          <p:cNvPr id="5" name="TextBox 4"/>
          <p:cNvSpPr txBox="1"/>
          <p:nvPr/>
        </p:nvSpPr>
        <p:spPr>
          <a:xfrm>
            <a:off x="548640" y="6400800"/>
            <a:ext cx="7315200" cy="365760"/>
          </a:xfrm>
          <a:prstGeom prst="rect">
            <a:avLst/>
          </a:prstGeom>
          <a:noFill/>
        </p:spPr>
        <p:txBody>
          <a:bodyPr wrap="square">
            <a:spAutoFit/>
          </a:bodyPr>
          <a:lstStyle/>
          <a:p>
            <a:pPr algn="l"/>
            <a:r>
              <a:rPr sz="1200" b="0" i="0">
                <a:solidFill>
                  <a:srgbClr val="5C677D"/>
                </a:solidFill>
              </a:rPr>
              <a:t>Reproducing PowerSGD on Perlmutter</a:t>
            </a:r>
          </a:p>
        </p:txBody>
      </p:sp>
      <p:sp>
        <p:nvSpPr>
          <p:cNvPr id="6" name="TextBox 5"/>
          <p:cNvSpPr txBox="1"/>
          <p:nvPr/>
        </p:nvSpPr>
        <p:spPr>
          <a:xfrm>
            <a:off x="548640" y="1097280"/>
            <a:ext cx="5303520" cy="457200"/>
          </a:xfrm>
          <a:prstGeom prst="rect">
            <a:avLst/>
          </a:prstGeom>
          <a:noFill/>
        </p:spPr>
        <p:txBody>
          <a:bodyPr wrap="square">
            <a:spAutoFit/>
          </a:bodyPr>
          <a:lstStyle/>
          <a:p>
            <a:pPr algn="l"/>
            <a:r>
              <a:rPr sz="2200" b="1" i="0">
                <a:solidFill>
                  <a:srgbClr val="2E86AB"/>
                </a:solidFill>
              </a:rPr>
              <a:t>What we found</a:t>
            </a:r>
          </a:p>
        </p:txBody>
      </p:sp>
      <p:sp>
        <p:nvSpPr>
          <p:cNvPr id="7" name="TextBox 6"/>
          <p:cNvSpPr txBox="1"/>
          <p:nvPr/>
        </p:nvSpPr>
        <p:spPr>
          <a:xfrm>
            <a:off x="548640" y="1645920"/>
            <a:ext cx="5394960" cy="4389120"/>
          </a:xfrm>
          <a:prstGeom prst="rect">
            <a:avLst/>
          </a:prstGeom>
          <a:noFill/>
        </p:spPr>
        <p:txBody>
          <a:bodyPr wrap="square">
            <a:spAutoFit/>
          </a:bodyPr>
          <a:lstStyle/>
          <a:p>
            <a:pPr>
              <a:spcAft>
                <a:spcPts val="800"/>
              </a:spcAft>
            </a:pPr>
            <a:r>
              <a:rPr sz="1800" b="1">
                <a:solidFill>
                  <a:srgbClr val="2E86AB"/>
                </a:solidFill>
              </a:rPr>
              <a:t>•  </a:t>
            </a:r>
            <a:r>
              <a:rPr sz="1800">
                <a:solidFill>
                  <a:srgbClr val="1B2A41"/>
                </a:solidFill>
              </a:rPr>
              <a:t>The paper's accuracy and compression results reproduce from the authors' code, with no retuning: 24/24 runs, 3 seeds each.</a:t>
            </a:r>
          </a:p>
          <a:p>
            <a:pPr>
              <a:spcAft>
                <a:spcPts val="800"/>
              </a:spcAft>
            </a:pPr>
            <a:r>
              <a:rPr sz="1800" b="1">
                <a:solidFill>
                  <a:srgbClr val="2E86AB"/>
                </a:solidFill>
              </a:rPr>
              <a:t>•  </a:t>
            </a:r>
            <a:r>
              <a:rPr sz="1800">
                <a:solidFill>
                  <a:srgbClr val="1B2A41"/>
                </a:solidFill>
              </a:rPr>
              <a:t>Its speedups do not: on a fast interconnect, communication is too small a part of each step for compression to pay off on these models.</a:t>
            </a:r>
          </a:p>
          <a:p>
            <a:pPr>
              <a:spcAft>
                <a:spcPts val="800"/>
              </a:spcAft>
            </a:pPr>
            <a:r>
              <a:rPr sz="1800" b="1">
                <a:solidFill>
                  <a:srgbClr val="2E86AB"/>
                </a:solidFill>
              </a:rPr>
              <a:t>•  </a:t>
            </a:r>
            <a:r>
              <a:rPr sz="1800">
                <a:solidFill>
                  <a:srgbClr val="1B2A41"/>
                </a:solidFill>
              </a:rPr>
              <a:t>Fair comparisons across hardware use changes relative to SGD, not raw times.</a:t>
            </a:r>
          </a:p>
        </p:txBody>
      </p:sp>
      <p:sp>
        <p:nvSpPr>
          <p:cNvPr id="8" name="TextBox 7"/>
          <p:cNvSpPr txBox="1"/>
          <p:nvPr/>
        </p:nvSpPr>
        <p:spPr>
          <a:xfrm>
            <a:off x="6309360" y="1097280"/>
            <a:ext cx="5303520" cy="457200"/>
          </a:xfrm>
          <a:prstGeom prst="rect">
            <a:avLst/>
          </a:prstGeom>
          <a:noFill/>
        </p:spPr>
        <p:txBody>
          <a:bodyPr wrap="square">
            <a:spAutoFit/>
          </a:bodyPr>
          <a:lstStyle/>
          <a:p>
            <a:pPr algn="l"/>
            <a:r>
              <a:rPr sz="2200" b="1" i="0">
                <a:solidFill>
                  <a:srgbClr val="2E86AB"/>
                </a:solidFill>
              </a:rPr>
              <a:t>Next steps</a:t>
            </a:r>
          </a:p>
        </p:txBody>
      </p:sp>
      <p:sp>
        <p:nvSpPr>
          <p:cNvPr id="9" name="TextBox 8"/>
          <p:cNvSpPr txBox="1"/>
          <p:nvPr/>
        </p:nvSpPr>
        <p:spPr>
          <a:xfrm>
            <a:off x="6309360" y="1645920"/>
            <a:ext cx="5394960" cy="4389120"/>
          </a:xfrm>
          <a:prstGeom prst="rect">
            <a:avLst/>
          </a:prstGeom>
          <a:noFill/>
        </p:spPr>
        <p:txBody>
          <a:bodyPr wrap="square">
            <a:spAutoFit/>
          </a:bodyPr>
          <a:lstStyle/>
          <a:p>
            <a:pPr>
              <a:spcAft>
                <a:spcPts val="800"/>
              </a:spcAft>
            </a:pPr>
            <a:r>
              <a:rPr sz="1800" b="1">
                <a:solidFill>
                  <a:srgbClr val="2E86AB"/>
                </a:solidFill>
              </a:rPr>
              <a:t>•  </a:t>
            </a:r>
            <a:r>
              <a:rPr sz="1800" b="1">
                <a:solidFill>
                  <a:srgbClr val="1B2A41"/>
                </a:solidFill>
              </a:rPr>
              <a:t>nanoGPT and larger models: </a:t>
            </a:r>
            <a:r>
              <a:rPr sz="1800">
                <a:solidFill>
                  <a:srgbClr val="1B2A41"/>
                </a:solidFill>
              </a:rPr>
              <a:t>much bigger gradients, so communication matters more.</a:t>
            </a:r>
          </a:p>
          <a:p>
            <a:pPr>
              <a:spcAft>
                <a:spcPts val="800"/>
              </a:spcAft>
            </a:pPr>
            <a:r>
              <a:rPr sz="1800" b="1">
                <a:solidFill>
                  <a:srgbClr val="2E86AB"/>
                </a:solidFill>
              </a:rPr>
              <a:t>•  </a:t>
            </a:r>
            <a:r>
              <a:rPr sz="1800" b="1">
                <a:solidFill>
                  <a:srgbClr val="1B2A41"/>
                </a:solidFill>
              </a:rPr>
              <a:t>Data vs tensor parallelism: </a:t>
            </a:r>
            <a:r>
              <a:rPr sz="1800">
                <a:solidFill>
                  <a:srgbClr val="1B2A41"/>
                </a:solidFill>
              </a:rPr>
              <a:t>where gradient compression applies, and where it does not.</a:t>
            </a:r>
          </a:p>
          <a:p>
            <a:pPr>
              <a:spcAft>
                <a:spcPts val="800"/>
              </a:spcAft>
            </a:pPr>
            <a:r>
              <a:rPr sz="1800" b="1">
                <a:solidFill>
                  <a:srgbClr val="2E86AB"/>
                </a:solidFill>
              </a:rPr>
              <a:t>•  </a:t>
            </a:r>
            <a:r>
              <a:rPr sz="1800" b="1">
                <a:solidFill>
                  <a:srgbClr val="1B2A41"/>
                </a:solidFill>
              </a:rPr>
              <a:t>Low-precision gradients (fp32 → fp8): </a:t>
            </a:r>
            <a:r>
              <a:rPr sz="1800">
                <a:solidFill>
                  <a:srgbClr val="1B2A41"/>
                </a:solidFill>
              </a:rPr>
              <a:t>an alternative or complement to low-rank compression.</a:t>
            </a:r>
          </a:p>
          <a:p>
            <a:pPr>
              <a:spcAft>
                <a:spcPts val="800"/>
              </a:spcAft>
            </a:pPr>
            <a:r>
              <a:rPr sz="1800" b="1">
                <a:solidFill>
                  <a:srgbClr val="2E86AB"/>
                </a:solidFill>
              </a:rPr>
              <a:t>•  </a:t>
            </a:r>
            <a:r>
              <a:rPr sz="1800" b="1">
                <a:solidFill>
                  <a:srgbClr val="1B2A41"/>
                </a:solidFill>
              </a:rPr>
              <a:t>Slow-network runs </a:t>
            </a:r>
            <a:r>
              <a:rPr sz="1800">
                <a:solidFill>
                  <a:srgbClr val="1B2A41"/>
                </a:solidFill>
              </a:rPr>
              <a:t>(Gloo backend, 1-16 GPUs) to recreate the paper's setting.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155680" cy="731520"/>
          </a:xfrm>
          <a:prstGeom prst="rect">
            <a:avLst/>
          </a:prstGeom>
          <a:noFill/>
        </p:spPr>
        <p:txBody>
          <a:bodyPr wrap="square">
            <a:spAutoFit/>
          </a:bodyPr>
          <a:lstStyle/>
          <a:p>
            <a:pPr algn="l"/>
            <a:r>
              <a:rPr sz="3000" b="1" i="0">
                <a:solidFill>
                  <a:srgbClr val="1B2A41"/>
                </a:solidFill>
              </a:rPr>
              <a:t>Appendix: full Table 3 results</a:t>
            </a:r>
          </a:p>
        </p:txBody>
      </p:sp>
      <p:sp>
        <p:nvSpPr>
          <p:cNvPr id="4" name="TextBox 3"/>
          <p:cNvSpPr txBox="1"/>
          <p:nvPr/>
        </p:nvSpPr>
        <p:spPr>
          <a:xfrm>
            <a:off x="548640" y="914400"/>
            <a:ext cx="11155680" cy="548640"/>
          </a:xfrm>
          <a:prstGeom prst="rect">
            <a:avLst/>
          </a:prstGeom>
          <a:noFill/>
        </p:spPr>
        <p:txBody>
          <a:bodyPr wrap="square">
            <a:spAutoFit/>
          </a:bodyPr>
          <a:lstStyle/>
          <a:p>
            <a:pPr algn="l"/>
            <a:r>
              <a:rPr sz="1900" b="1" i="0">
                <a:solidFill>
                  <a:srgbClr val="2E86AB"/>
                </a:solidFill>
              </a:rPr>
              <a:t>Nayan Yadav's Perlmutter runs: 16 GPUs, 3 seeds each, shown as mean [min, max].</a:t>
            </a:r>
          </a:p>
        </p:txBody>
      </p:sp>
      <p:sp>
        <p:nvSpPr>
          <p:cNvPr id="5" name="TextBox 4"/>
          <p:cNvSpPr txBox="1"/>
          <p:nvPr/>
        </p:nvSpPr>
        <p:spPr>
          <a:xfrm>
            <a:off x="10881360" y="6400800"/>
            <a:ext cx="1005840" cy="365760"/>
          </a:xfrm>
          <a:prstGeom prst="rect">
            <a:avLst/>
          </a:prstGeom>
          <a:noFill/>
        </p:spPr>
        <p:txBody>
          <a:bodyPr wrap="square">
            <a:spAutoFit/>
          </a:bodyPr>
          <a:lstStyle/>
          <a:p>
            <a:pPr algn="r"/>
            <a:r>
              <a:rPr sz="1200" b="0" i="0">
                <a:solidFill>
                  <a:srgbClr val="5C677D"/>
                </a:solidFill>
              </a:rPr>
              <a:t>16</a:t>
            </a:r>
          </a:p>
        </p:txBody>
      </p:sp>
      <p:sp>
        <p:nvSpPr>
          <p:cNvPr id="6" name="TextBox 5"/>
          <p:cNvSpPr txBox="1"/>
          <p:nvPr/>
        </p:nvSpPr>
        <p:spPr>
          <a:xfrm>
            <a:off x="548640" y="6400800"/>
            <a:ext cx="7315200" cy="365760"/>
          </a:xfrm>
          <a:prstGeom prst="rect">
            <a:avLst/>
          </a:prstGeom>
          <a:noFill/>
        </p:spPr>
        <p:txBody>
          <a:bodyPr wrap="square">
            <a:spAutoFit/>
          </a:bodyPr>
          <a:lstStyle/>
          <a:p>
            <a:pPr algn="l"/>
            <a:r>
              <a:rPr sz="1200" b="0" i="0">
                <a:solidFill>
                  <a:srgbClr val="5C677D"/>
                </a:solidFill>
              </a:rPr>
              <a:t>Reproducing PowerSGD on Perlmutter</a:t>
            </a:r>
          </a:p>
        </p:txBody>
      </p:sp>
      <p:graphicFrame>
        <p:nvGraphicFramePr>
          <p:cNvPr id="7" name="Table 6"/>
          <p:cNvGraphicFramePr>
            <a:graphicFrameLocks noGrp="1"/>
          </p:cNvGraphicFramePr>
          <p:nvPr/>
        </p:nvGraphicFramePr>
        <p:xfrm>
          <a:off x="548640" y="1600200"/>
          <a:ext cx="11064240" cy="4114800"/>
        </p:xfrm>
        <a:graphic>
          <a:graphicData uri="http://schemas.openxmlformats.org/drawingml/2006/table">
            <a:tbl>
              <a:tblPr firstRow="1" bandRow="1">
                <a:tableStyleId>{5C22544A-7EE6-4342-B048-85BDC9FD1C3A}</a:tableStyleId>
              </a:tblPr>
              <a:tblGrid>
                <a:gridCol w="1828800"/>
                <a:gridCol w="1005840"/>
                <a:gridCol w="2194560"/>
                <a:gridCol w="1005840"/>
                <a:gridCol w="1463040"/>
                <a:gridCol w="1097280"/>
                <a:gridCol w="1463040"/>
                <a:gridCol w="1005840"/>
              </a:tblGrid>
              <a:tr h="457200">
                <a:tc>
                  <a:txBody>
                    <a:bodyPr/>
                    <a:lstStyle/>
                    <a:p>
                      <a:r>
                        <a:rPr sz="1400" b="1">
                          <a:solidFill>
                            <a:srgbClr val="FFFFFF"/>
                          </a:solidFill>
                        </a:rPr>
                        <a:t>Task</a:t>
                      </a:r>
                    </a:p>
                  </a:txBody>
                  <a:tcPr>
                    <a:solidFill>
                      <a:srgbClr val="1B2A41"/>
                    </a:solidFill>
                  </a:tcPr>
                </a:tc>
                <a:tc>
                  <a:txBody>
                    <a:bodyPr/>
                    <a:lstStyle/>
                    <a:p>
                      <a:r>
                        <a:rPr sz="1400" b="1">
                          <a:solidFill>
                            <a:srgbClr val="FFFFFF"/>
                          </a:solidFill>
                        </a:rPr>
                        <a:t>Method</a:t>
                      </a:r>
                    </a:p>
                  </a:txBody>
                  <a:tcPr>
                    <a:solidFill>
                      <a:srgbClr val="1B2A41"/>
                    </a:solidFill>
                  </a:tcPr>
                </a:tc>
                <a:tc>
                  <a:txBody>
                    <a:bodyPr/>
                    <a:lstStyle/>
                    <a:p>
                      <a:r>
                        <a:rPr sz="1400" b="1">
                          <a:solidFill>
                            <a:srgbClr val="FFFFFF"/>
                          </a:solidFill>
                        </a:rPr>
                        <a:t>Ours</a:t>
                      </a:r>
                    </a:p>
                  </a:txBody>
                  <a:tcPr>
                    <a:solidFill>
                      <a:srgbClr val="1B2A41"/>
                    </a:solidFill>
                  </a:tcPr>
                </a:tc>
                <a:tc>
                  <a:txBody>
                    <a:bodyPr/>
                    <a:lstStyle/>
                    <a:p>
                      <a:r>
                        <a:rPr sz="1400" b="1">
                          <a:solidFill>
                            <a:srgbClr val="FFFFFF"/>
                          </a:solidFill>
                        </a:rPr>
                        <a:t>Paper</a:t>
                      </a:r>
                    </a:p>
                  </a:txBody>
                  <a:tcPr>
                    <a:solidFill>
                      <a:srgbClr val="1B2A41"/>
                    </a:solidFill>
                  </a:tcPr>
                </a:tc>
                <a:tc>
                  <a:txBody>
                    <a:bodyPr/>
                    <a:lstStyle/>
                    <a:p>
                      <a:r>
                        <a:rPr sz="1400" b="1">
                          <a:solidFill>
                            <a:srgbClr val="FFFFFF"/>
                          </a:solidFill>
                        </a:rPr>
                        <a:t>MB/epoch ours</a:t>
                      </a:r>
                    </a:p>
                  </a:txBody>
                  <a:tcPr>
                    <a:solidFill>
                      <a:srgbClr val="1B2A41"/>
                    </a:solidFill>
                  </a:tcPr>
                </a:tc>
                <a:tc>
                  <a:txBody>
                    <a:bodyPr/>
                    <a:lstStyle/>
                    <a:p>
                      <a:r>
                        <a:rPr sz="1400" b="1">
                          <a:solidFill>
                            <a:srgbClr val="FFFFFF"/>
                          </a:solidFill>
                        </a:rPr>
                        <a:t>Paper</a:t>
                      </a:r>
                    </a:p>
                  </a:txBody>
                  <a:tcPr>
                    <a:solidFill>
                      <a:srgbClr val="1B2A41"/>
                    </a:solidFill>
                  </a:tcPr>
                </a:tc>
                <a:tc>
                  <a:txBody>
                    <a:bodyPr/>
                    <a:lstStyle/>
                    <a:p>
                      <a:r>
                        <a:rPr sz="1400" b="1">
                          <a:solidFill>
                            <a:srgbClr val="FFFFFF"/>
                          </a:solidFill>
                        </a:rPr>
                        <a:t>ms/batch ours</a:t>
                      </a:r>
                    </a:p>
                  </a:txBody>
                  <a:tcPr>
                    <a:solidFill>
                      <a:srgbClr val="1B2A41"/>
                    </a:solidFill>
                  </a:tcPr>
                </a:tc>
                <a:tc>
                  <a:txBody>
                    <a:bodyPr/>
                    <a:lstStyle/>
                    <a:p>
                      <a:r>
                        <a:rPr sz="1400" b="1">
                          <a:solidFill>
                            <a:srgbClr val="FFFFFF"/>
                          </a:solidFill>
                        </a:rPr>
                        <a:t>Paper</a:t>
                      </a:r>
                    </a:p>
                  </a:txBody>
                  <a:tcPr>
                    <a:solidFill>
                      <a:srgbClr val="1B2A41"/>
                    </a:solidFill>
                  </a:tcPr>
                </a:tc>
              </a:tr>
              <a:tr h="457200">
                <a:tc>
                  <a:txBody>
                    <a:bodyPr/>
                    <a:lstStyle/>
                    <a:p>
                      <a:r>
                        <a:rPr sz="1400" b="1">
                          <a:solidFill>
                            <a:srgbClr val="1B2A41"/>
                          </a:solidFill>
                        </a:rPr>
                        <a:t>CIFAR-10 (acc.)</a:t>
                      </a:r>
                    </a:p>
                  </a:txBody>
                  <a:tcPr>
                    <a:solidFill>
                      <a:srgbClr val="EEF3F7"/>
                    </a:solidFill>
                  </a:tcPr>
                </a:tc>
                <a:tc>
                  <a:txBody>
                    <a:bodyPr/>
                    <a:lstStyle/>
                    <a:p>
                      <a:r>
                        <a:rPr sz="1400" b="0">
                          <a:solidFill>
                            <a:srgbClr val="1B2A41"/>
                          </a:solidFill>
                        </a:rPr>
                        <a:t>SGD</a:t>
                      </a:r>
                    </a:p>
                  </a:txBody>
                  <a:tcPr>
                    <a:solidFill>
                      <a:srgbClr val="EEF3F7"/>
                    </a:solidFill>
                  </a:tcPr>
                </a:tc>
                <a:tc>
                  <a:txBody>
                    <a:bodyPr/>
                    <a:lstStyle/>
                    <a:p>
                      <a:r>
                        <a:rPr sz="1400" b="0">
                          <a:solidFill>
                            <a:srgbClr val="1B2A41"/>
                          </a:solidFill>
                        </a:rPr>
                        <a:t>94.1% [94.1, 94.1]</a:t>
                      </a:r>
                    </a:p>
                  </a:txBody>
                  <a:tcPr>
                    <a:solidFill>
                      <a:srgbClr val="EEF3F7"/>
                    </a:solidFill>
                  </a:tcPr>
                </a:tc>
                <a:tc>
                  <a:txBody>
                    <a:bodyPr/>
                    <a:lstStyle/>
                    <a:p>
                      <a:r>
                        <a:rPr sz="1400" b="0">
                          <a:solidFill>
                            <a:srgbClr val="1B2A41"/>
                          </a:solidFill>
                        </a:rPr>
                        <a:t>94.3%</a:t>
                      </a:r>
                    </a:p>
                  </a:txBody>
                  <a:tcPr>
                    <a:solidFill>
                      <a:srgbClr val="EEF3F7"/>
                    </a:solidFill>
                  </a:tcPr>
                </a:tc>
                <a:tc>
                  <a:txBody>
                    <a:bodyPr/>
                    <a:lstStyle/>
                    <a:p>
                      <a:r>
                        <a:rPr sz="1400" b="0">
                          <a:solidFill>
                            <a:srgbClr val="1B2A41"/>
                          </a:solidFill>
                        </a:rPr>
                        <a:t>1,073</a:t>
                      </a:r>
                    </a:p>
                  </a:txBody>
                  <a:tcPr>
                    <a:solidFill>
                      <a:srgbClr val="EEF3F7"/>
                    </a:solidFill>
                  </a:tcPr>
                </a:tc>
                <a:tc>
                  <a:txBody>
                    <a:bodyPr/>
                    <a:lstStyle/>
                    <a:p>
                      <a:r>
                        <a:rPr sz="1400" b="0">
                          <a:solidFill>
                            <a:srgbClr val="1B2A41"/>
                          </a:solidFill>
                        </a:rPr>
                        <a:t>1,023</a:t>
                      </a:r>
                    </a:p>
                  </a:txBody>
                  <a:tcPr>
                    <a:solidFill>
                      <a:srgbClr val="EEF3F7"/>
                    </a:solidFill>
                  </a:tcPr>
                </a:tc>
                <a:tc>
                  <a:txBody>
                    <a:bodyPr/>
                    <a:lstStyle/>
                    <a:p>
                      <a:r>
                        <a:rPr sz="1400" b="0">
                          <a:solidFill>
                            <a:srgbClr val="1B2A41"/>
                          </a:solidFill>
                        </a:rPr>
                        <a:t>26.2</a:t>
                      </a:r>
                    </a:p>
                  </a:txBody>
                  <a:tcPr>
                    <a:solidFill>
                      <a:srgbClr val="EEF3F7"/>
                    </a:solidFill>
                  </a:tcPr>
                </a:tc>
                <a:tc>
                  <a:txBody>
                    <a:bodyPr/>
                    <a:lstStyle/>
                    <a:p>
                      <a:r>
                        <a:rPr sz="1400" b="0">
                          <a:solidFill>
                            <a:srgbClr val="1B2A41"/>
                          </a:solidFill>
                        </a:rPr>
                        <a:t>312</a:t>
                      </a:r>
                    </a:p>
                  </a:txBody>
                  <a:tcPr>
                    <a:solidFill>
                      <a:srgbClr val="EEF3F7"/>
                    </a:solidFill>
                  </a:tcPr>
                </a:tc>
              </a:tr>
              <a:tr h="457200">
                <a:tc>
                  <a:txBody>
                    <a:bodyPr/>
                    <a:lstStyle/>
                    <a:p>
                      <a:r>
                        <a:rPr sz="1400" b="1">
                          <a:solidFill>
                            <a:srgbClr val="1B2A41"/>
                          </a:solidFill>
                        </a:rPr>
                        <a:t/>
                      </a:r>
                    </a:p>
                  </a:txBody>
                  <a:tcPr>
                    <a:solidFill>
                      <a:srgbClr val="FFFFFF"/>
                    </a:solidFill>
                  </a:tcPr>
                </a:tc>
                <a:tc>
                  <a:txBody>
                    <a:bodyPr/>
                    <a:lstStyle/>
                    <a:p>
                      <a:r>
                        <a:rPr sz="1400" b="0">
                          <a:solidFill>
                            <a:srgbClr val="1B2A41"/>
                          </a:solidFill>
                        </a:rPr>
                        <a:t>Rank 1</a:t>
                      </a:r>
                    </a:p>
                  </a:txBody>
                  <a:tcPr>
                    <a:solidFill>
                      <a:srgbClr val="FFFFFF"/>
                    </a:solidFill>
                  </a:tcPr>
                </a:tc>
                <a:tc>
                  <a:txBody>
                    <a:bodyPr/>
                    <a:lstStyle/>
                    <a:p>
                      <a:r>
                        <a:rPr sz="1400" b="0">
                          <a:solidFill>
                            <a:srgbClr val="1B2A41"/>
                          </a:solidFill>
                        </a:rPr>
                        <a:t>93.3% [93.1, 93.4]</a:t>
                      </a:r>
                    </a:p>
                  </a:txBody>
                  <a:tcPr>
                    <a:solidFill>
                      <a:srgbClr val="FFFFFF"/>
                    </a:solidFill>
                  </a:tcPr>
                </a:tc>
                <a:tc>
                  <a:txBody>
                    <a:bodyPr/>
                    <a:lstStyle/>
                    <a:p>
                      <a:r>
                        <a:rPr sz="1400" b="0">
                          <a:solidFill>
                            <a:srgbClr val="1B2A41"/>
                          </a:solidFill>
                        </a:rPr>
                        <a:t>93.6%</a:t>
                      </a:r>
                    </a:p>
                  </a:txBody>
                  <a:tcPr>
                    <a:solidFill>
                      <a:srgbClr val="FFFFFF"/>
                    </a:solidFill>
                  </a:tcPr>
                </a:tc>
                <a:tc>
                  <a:txBody>
                    <a:bodyPr/>
                    <a:lstStyle/>
                    <a:p>
                      <a:r>
                        <a:rPr sz="1400" b="0">
                          <a:solidFill>
                            <a:srgbClr val="1B2A41"/>
                          </a:solidFill>
                        </a:rPr>
                        <a:t>4</a:t>
                      </a:r>
                    </a:p>
                  </a:txBody>
                  <a:tcPr>
                    <a:solidFill>
                      <a:srgbClr val="FFFFFF"/>
                    </a:solidFill>
                  </a:tcPr>
                </a:tc>
                <a:tc>
                  <a:txBody>
                    <a:bodyPr/>
                    <a:lstStyle/>
                    <a:p>
                      <a:r>
                        <a:rPr sz="1400" b="0">
                          <a:solidFill>
                            <a:srgbClr val="1B2A41"/>
                          </a:solidFill>
                        </a:rPr>
                        <a:t>4</a:t>
                      </a:r>
                    </a:p>
                  </a:txBody>
                  <a:tcPr>
                    <a:solidFill>
                      <a:srgbClr val="FFFFFF"/>
                    </a:solidFill>
                  </a:tcPr>
                </a:tc>
                <a:tc>
                  <a:txBody>
                    <a:bodyPr/>
                    <a:lstStyle/>
                    <a:p>
                      <a:r>
                        <a:rPr sz="1400" b="0">
                          <a:solidFill>
                            <a:srgbClr val="1B2A41"/>
                          </a:solidFill>
                        </a:rPr>
                        <a:t>28.3</a:t>
                      </a:r>
                    </a:p>
                  </a:txBody>
                  <a:tcPr>
                    <a:solidFill>
                      <a:srgbClr val="FFFFFF"/>
                    </a:solidFill>
                  </a:tcPr>
                </a:tc>
                <a:tc>
                  <a:txBody>
                    <a:bodyPr/>
                    <a:lstStyle/>
                    <a:p>
                      <a:r>
                        <a:rPr sz="1400" b="0">
                          <a:solidFill>
                            <a:srgbClr val="1B2A41"/>
                          </a:solidFill>
                        </a:rPr>
                        <a:t>229</a:t>
                      </a:r>
                    </a:p>
                  </a:txBody>
                  <a:tcPr>
                    <a:solidFill>
                      <a:srgbClr val="FFFFFF"/>
                    </a:solidFill>
                  </a:tcPr>
                </a:tc>
              </a:tr>
              <a:tr h="457200">
                <a:tc>
                  <a:txBody>
                    <a:bodyPr/>
                    <a:lstStyle/>
                    <a:p>
                      <a:r>
                        <a:rPr sz="1400" b="1">
                          <a:solidFill>
                            <a:srgbClr val="1B2A41"/>
                          </a:solidFill>
                        </a:rPr>
                        <a:t/>
                      </a:r>
                    </a:p>
                  </a:txBody>
                  <a:tcPr>
                    <a:solidFill>
                      <a:srgbClr val="EEF3F7"/>
                    </a:solidFill>
                  </a:tcPr>
                </a:tc>
                <a:tc>
                  <a:txBody>
                    <a:bodyPr/>
                    <a:lstStyle/>
                    <a:p>
                      <a:r>
                        <a:rPr sz="1400" b="0">
                          <a:solidFill>
                            <a:srgbClr val="1B2A41"/>
                          </a:solidFill>
                        </a:rPr>
                        <a:t>Rank 2</a:t>
                      </a:r>
                    </a:p>
                  </a:txBody>
                  <a:tcPr>
                    <a:solidFill>
                      <a:srgbClr val="EEF3F7"/>
                    </a:solidFill>
                  </a:tcPr>
                </a:tc>
                <a:tc>
                  <a:txBody>
                    <a:bodyPr/>
                    <a:lstStyle/>
                    <a:p>
                      <a:r>
                        <a:rPr sz="1400" b="0">
                          <a:solidFill>
                            <a:srgbClr val="1B2A41"/>
                          </a:solidFill>
                        </a:rPr>
                        <a:t>94.4% [94.3, 94.4]</a:t>
                      </a:r>
                    </a:p>
                  </a:txBody>
                  <a:tcPr>
                    <a:solidFill>
                      <a:srgbClr val="EEF3F7"/>
                    </a:solidFill>
                  </a:tcPr>
                </a:tc>
                <a:tc>
                  <a:txBody>
                    <a:bodyPr/>
                    <a:lstStyle/>
                    <a:p>
                      <a:r>
                        <a:rPr sz="1400" b="0">
                          <a:solidFill>
                            <a:srgbClr val="1B2A41"/>
                          </a:solidFill>
                        </a:rPr>
                        <a:t>94.4%</a:t>
                      </a:r>
                    </a:p>
                  </a:txBody>
                  <a:tcPr>
                    <a:solidFill>
                      <a:srgbClr val="EEF3F7"/>
                    </a:solidFill>
                  </a:tcPr>
                </a:tc>
                <a:tc>
                  <a:txBody>
                    <a:bodyPr/>
                    <a:lstStyle/>
                    <a:p>
                      <a:r>
                        <a:rPr sz="1400" b="0">
                          <a:solidFill>
                            <a:srgbClr val="1B2A41"/>
                          </a:solidFill>
                        </a:rPr>
                        <a:t>8</a:t>
                      </a:r>
                    </a:p>
                  </a:txBody>
                  <a:tcPr>
                    <a:solidFill>
                      <a:srgbClr val="EEF3F7"/>
                    </a:solidFill>
                  </a:tcPr>
                </a:tc>
                <a:tc>
                  <a:txBody>
                    <a:bodyPr/>
                    <a:lstStyle/>
                    <a:p>
                      <a:r>
                        <a:rPr sz="1400" b="0">
                          <a:solidFill>
                            <a:srgbClr val="1B2A41"/>
                          </a:solidFill>
                        </a:rPr>
                        <a:t>8</a:t>
                      </a:r>
                    </a:p>
                  </a:txBody>
                  <a:tcPr>
                    <a:solidFill>
                      <a:srgbClr val="EEF3F7"/>
                    </a:solidFill>
                  </a:tcPr>
                </a:tc>
                <a:tc>
                  <a:txBody>
                    <a:bodyPr/>
                    <a:lstStyle/>
                    <a:p>
                      <a:r>
                        <a:rPr sz="1400" b="0">
                          <a:solidFill>
                            <a:srgbClr val="1B2A41"/>
                          </a:solidFill>
                        </a:rPr>
                        <a:t>29.6</a:t>
                      </a:r>
                    </a:p>
                  </a:txBody>
                  <a:tcPr>
                    <a:solidFill>
                      <a:srgbClr val="EEF3F7"/>
                    </a:solidFill>
                  </a:tcPr>
                </a:tc>
                <a:tc>
                  <a:txBody>
                    <a:bodyPr/>
                    <a:lstStyle/>
                    <a:p>
                      <a:r>
                        <a:rPr sz="1400" b="0">
                          <a:solidFill>
                            <a:srgbClr val="1B2A41"/>
                          </a:solidFill>
                        </a:rPr>
                        <a:t>239</a:t>
                      </a:r>
                    </a:p>
                  </a:txBody>
                  <a:tcPr>
                    <a:solidFill>
                      <a:srgbClr val="EEF3F7"/>
                    </a:solidFill>
                  </a:tcPr>
                </a:tc>
              </a:tr>
              <a:tr h="457200">
                <a:tc>
                  <a:txBody>
                    <a:bodyPr/>
                    <a:lstStyle/>
                    <a:p>
                      <a:r>
                        <a:rPr sz="1400" b="1">
                          <a:solidFill>
                            <a:srgbClr val="1B2A41"/>
                          </a:solidFill>
                        </a:rPr>
                        <a:t/>
                      </a:r>
                    </a:p>
                  </a:txBody>
                  <a:tcPr>
                    <a:solidFill>
                      <a:srgbClr val="FFFFFF"/>
                    </a:solidFill>
                  </a:tcPr>
                </a:tc>
                <a:tc>
                  <a:txBody>
                    <a:bodyPr/>
                    <a:lstStyle/>
                    <a:p>
                      <a:r>
                        <a:rPr sz="1400" b="0">
                          <a:solidFill>
                            <a:srgbClr val="1B2A41"/>
                          </a:solidFill>
                        </a:rPr>
                        <a:t>Rank 4</a:t>
                      </a:r>
                    </a:p>
                  </a:txBody>
                  <a:tcPr>
                    <a:solidFill>
                      <a:srgbClr val="FFFFFF"/>
                    </a:solidFill>
                  </a:tcPr>
                </a:tc>
                <a:tc>
                  <a:txBody>
                    <a:bodyPr/>
                    <a:lstStyle/>
                    <a:p>
                      <a:r>
                        <a:rPr sz="1400" b="0">
                          <a:solidFill>
                            <a:srgbClr val="1B2A41"/>
                          </a:solidFill>
                        </a:rPr>
                        <a:t>94.5% [94.3, 94.7]</a:t>
                      </a:r>
                    </a:p>
                  </a:txBody>
                  <a:tcPr>
                    <a:solidFill>
                      <a:srgbClr val="FFFFFF"/>
                    </a:solidFill>
                  </a:tcPr>
                </a:tc>
                <a:tc>
                  <a:txBody>
                    <a:bodyPr/>
                    <a:lstStyle/>
                    <a:p>
                      <a:r>
                        <a:rPr sz="1400" b="0">
                          <a:solidFill>
                            <a:srgbClr val="1B2A41"/>
                          </a:solidFill>
                        </a:rPr>
                        <a:t>94.5%</a:t>
                      </a:r>
                    </a:p>
                  </a:txBody>
                  <a:tcPr>
                    <a:solidFill>
                      <a:srgbClr val="FFFFFF"/>
                    </a:solidFill>
                  </a:tcPr>
                </a:tc>
                <a:tc>
                  <a:txBody>
                    <a:bodyPr/>
                    <a:lstStyle/>
                    <a:p>
                      <a:r>
                        <a:rPr sz="1400" b="0">
                          <a:solidFill>
                            <a:srgbClr val="1B2A41"/>
                          </a:solidFill>
                        </a:rPr>
                        <a:t>15</a:t>
                      </a:r>
                    </a:p>
                  </a:txBody>
                  <a:tcPr>
                    <a:solidFill>
                      <a:srgbClr val="FFFFFF"/>
                    </a:solidFill>
                  </a:tcPr>
                </a:tc>
                <a:tc>
                  <a:txBody>
                    <a:bodyPr/>
                    <a:lstStyle/>
                    <a:p>
                      <a:r>
                        <a:rPr sz="1400" b="0">
                          <a:solidFill>
                            <a:srgbClr val="1B2A41"/>
                          </a:solidFill>
                        </a:rPr>
                        <a:t>14</a:t>
                      </a:r>
                    </a:p>
                  </a:txBody>
                  <a:tcPr>
                    <a:solidFill>
                      <a:srgbClr val="FFFFFF"/>
                    </a:solidFill>
                  </a:tcPr>
                </a:tc>
                <a:tc>
                  <a:txBody>
                    <a:bodyPr/>
                    <a:lstStyle/>
                    <a:p>
                      <a:r>
                        <a:rPr sz="1400" b="0">
                          <a:solidFill>
                            <a:srgbClr val="1B2A41"/>
                          </a:solidFill>
                        </a:rPr>
                        <a:t>33.2</a:t>
                      </a:r>
                    </a:p>
                  </a:txBody>
                  <a:tcPr>
                    <a:solidFill>
                      <a:srgbClr val="FFFFFF"/>
                    </a:solidFill>
                  </a:tcPr>
                </a:tc>
                <a:tc>
                  <a:txBody>
                    <a:bodyPr/>
                    <a:lstStyle/>
                    <a:p>
                      <a:r>
                        <a:rPr sz="1400" b="0">
                          <a:solidFill>
                            <a:srgbClr val="1B2A41"/>
                          </a:solidFill>
                        </a:rPr>
                        <a:t>260</a:t>
                      </a:r>
                    </a:p>
                  </a:txBody>
                  <a:tcPr>
                    <a:solidFill>
                      <a:srgbClr val="FFFFFF"/>
                    </a:solidFill>
                  </a:tcPr>
                </a:tc>
              </a:tr>
              <a:tr h="457200">
                <a:tc>
                  <a:txBody>
                    <a:bodyPr/>
                    <a:lstStyle/>
                    <a:p>
                      <a:r>
                        <a:rPr sz="1400" b="1">
                          <a:solidFill>
                            <a:srgbClr val="1B2A41"/>
                          </a:solidFill>
                        </a:rPr>
                        <a:t>WikiText-2 (ppl.)</a:t>
                      </a:r>
                    </a:p>
                  </a:txBody>
                  <a:tcPr>
                    <a:solidFill>
                      <a:srgbClr val="EEF3F7"/>
                    </a:solidFill>
                  </a:tcPr>
                </a:tc>
                <a:tc>
                  <a:txBody>
                    <a:bodyPr/>
                    <a:lstStyle/>
                    <a:p>
                      <a:r>
                        <a:rPr sz="1400" b="0">
                          <a:solidFill>
                            <a:srgbClr val="1B2A41"/>
                          </a:solidFill>
                        </a:rPr>
                        <a:t>SGD</a:t>
                      </a:r>
                    </a:p>
                  </a:txBody>
                  <a:tcPr>
                    <a:solidFill>
                      <a:srgbClr val="EEF3F7"/>
                    </a:solidFill>
                  </a:tcPr>
                </a:tc>
                <a:tc>
                  <a:txBody>
                    <a:bodyPr/>
                    <a:lstStyle/>
                    <a:p>
                      <a:r>
                        <a:rPr sz="1400" b="0">
                          <a:solidFill>
                            <a:srgbClr val="1B2A41"/>
                          </a:solidFill>
                        </a:rPr>
                        <a:t>99.6 [99.4, 99.9]</a:t>
                      </a:r>
                    </a:p>
                  </a:txBody>
                  <a:tcPr>
                    <a:solidFill>
                      <a:srgbClr val="EEF3F7"/>
                    </a:solidFill>
                  </a:tcPr>
                </a:tc>
                <a:tc>
                  <a:txBody>
                    <a:bodyPr/>
                    <a:lstStyle/>
                    <a:p>
                      <a:r>
                        <a:rPr sz="1400" b="0">
                          <a:solidFill>
                            <a:srgbClr val="1B2A41"/>
                          </a:solidFill>
                        </a:rPr>
                        <a:t>91</a:t>
                      </a:r>
                    </a:p>
                  </a:txBody>
                  <a:tcPr>
                    <a:solidFill>
                      <a:srgbClr val="EEF3F7"/>
                    </a:solidFill>
                  </a:tcPr>
                </a:tc>
                <a:tc>
                  <a:txBody>
                    <a:bodyPr/>
                    <a:lstStyle/>
                    <a:p>
                      <a:r>
                        <a:rPr sz="1400" b="0">
                          <a:solidFill>
                            <a:srgbClr val="1B2A41"/>
                          </a:solidFill>
                        </a:rPr>
                        <a:t>7,882</a:t>
                      </a:r>
                    </a:p>
                  </a:txBody>
                  <a:tcPr>
                    <a:solidFill>
                      <a:srgbClr val="EEF3F7"/>
                    </a:solidFill>
                  </a:tcPr>
                </a:tc>
                <a:tc>
                  <a:txBody>
                    <a:bodyPr/>
                    <a:lstStyle/>
                    <a:p>
                      <a:r>
                        <a:rPr sz="1400" b="0">
                          <a:solidFill>
                            <a:srgbClr val="1B2A41"/>
                          </a:solidFill>
                        </a:rPr>
                        <a:t>7,730</a:t>
                      </a:r>
                    </a:p>
                  </a:txBody>
                  <a:tcPr>
                    <a:solidFill>
                      <a:srgbClr val="EEF3F7"/>
                    </a:solidFill>
                  </a:tcPr>
                </a:tc>
                <a:tc>
                  <a:txBody>
                    <a:bodyPr/>
                    <a:lstStyle/>
                    <a:p>
                      <a:r>
                        <a:rPr sz="1400" b="0">
                          <a:solidFill>
                            <a:srgbClr val="1B2A41"/>
                          </a:solidFill>
                        </a:rPr>
                        <a:t>28.8</a:t>
                      </a:r>
                    </a:p>
                  </a:txBody>
                  <a:tcPr>
                    <a:solidFill>
                      <a:srgbClr val="EEF3F7"/>
                    </a:solidFill>
                  </a:tcPr>
                </a:tc>
                <a:tc>
                  <a:txBody>
                    <a:bodyPr/>
                    <a:lstStyle/>
                    <a:p>
                      <a:r>
                        <a:rPr sz="1400" b="0">
                          <a:solidFill>
                            <a:srgbClr val="1B2A41"/>
                          </a:solidFill>
                        </a:rPr>
                        <a:t>300</a:t>
                      </a:r>
                    </a:p>
                  </a:txBody>
                  <a:tcPr>
                    <a:solidFill>
                      <a:srgbClr val="EEF3F7"/>
                    </a:solidFill>
                  </a:tcPr>
                </a:tc>
              </a:tr>
              <a:tr h="457200">
                <a:tc>
                  <a:txBody>
                    <a:bodyPr/>
                    <a:lstStyle/>
                    <a:p>
                      <a:r>
                        <a:rPr sz="1400" b="1">
                          <a:solidFill>
                            <a:srgbClr val="1B2A41"/>
                          </a:solidFill>
                        </a:rPr>
                        <a:t/>
                      </a:r>
                    </a:p>
                  </a:txBody>
                  <a:tcPr>
                    <a:solidFill>
                      <a:srgbClr val="FFFFFF"/>
                    </a:solidFill>
                  </a:tcPr>
                </a:tc>
                <a:tc>
                  <a:txBody>
                    <a:bodyPr/>
                    <a:lstStyle/>
                    <a:p>
                      <a:r>
                        <a:rPr sz="1400" b="0">
                          <a:solidFill>
                            <a:srgbClr val="1B2A41"/>
                          </a:solidFill>
                        </a:rPr>
                        <a:t>Rank 1</a:t>
                      </a:r>
                    </a:p>
                  </a:txBody>
                  <a:tcPr>
                    <a:solidFill>
                      <a:srgbClr val="FFFFFF"/>
                    </a:solidFill>
                  </a:tcPr>
                </a:tc>
                <a:tc>
                  <a:txBody>
                    <a:bodyPr/>
                    <a:lstStyle/>
                    <a:p>
                      <a:r>
                        <a:rPr sz="1400" b="0">
                          <a:solidFill>
                            <a:srgbClr val="1B2A41"/>
                          </a:solidFill>
                        </a:rPr>
                        <a:t>111.2 [110.5, 112.0]</a:t>
                      </a:r>
                    </a:p>
                  </a:txBody>
                  <a:tcPr>
                    <a:solidFill>
                      <a:srgbClr val="FFFFFF"/>
                    </a:solidFill>
                  </a:tcPr>
                </a:tc>
                <a:tc>
                  <a:txBody>
                    <a:bodyPr/>
                    <a:lstStyle/>
                    <a:p>
                      <a:r>
                        <a:rPr sz="1400" b="0">
                          <a:solidFill>
                            <a:srgbClr val="1B2A41"/>
                          </a:solidFill>
                        </a:rPr>
                        <a:t>102</a:t>
                      </a:r>
                    </a:p>
                  </a:txBody>
                  <a:tcPr>
                    <a:solidFill>
                      <a:srgbClr val="FFFFFF"/>
                    </a:solidFill>
                  </a:tcPr>
                </a:tc>
                <a:tc>
                  <a:txBody>
                    <a:bodyPr/>
                    <a:lstStyle/>
                    <a:p>
                      <a:r>
                        <a:rPr sz="1400" b="0">
                          <a:solidFill>
                            <a:srgbClr val="1B2A41"/>
                          </a:solidFill>
                        </a:rPr>
                        <a:t>25</a:t>
                      </a:r>
                    </a:p>
                  </a:txBody>
                  <a:tcPr>
                    <a:solidFill>
                      <a:srgbClr val="FFFFFF"/>
                    </a:solidFill>
                  </a:tcPr>
                </a:tc>
                <a:tc>
                  <a:txBody>
                    <a:bodyPr/>
                    <a:lstStyle/>
                    <a:p>
                      <a:r>
                        <a:rPr sz="1400" b="0">
                          <a:solidFill>
                            <a:srgbClr val="1B2A41"/>
                          </a:solidFill>
                        </a:rPr>
                        <a:t>25</a:t>
                      </a:r>
                    </a:p>
                  </a:txBody>
                  <a:tcPr>
                    <a:solidFill>
                      <a:srgbClr val="FFFFFF"/>
                    </a:solidFill>
                  </a:tcPr>
                </a:tc>
                <a:tc>
                  <a:txBody>
                    <a:bodyPr/>
                    <a:lstStyle/>
                    <a:p>
                      <a:r>
                        <a:rPr sz="1400" b="0">
                          <a:solidFill>
                            <a:srgbClr val="1B2A41"/>
                          </a:solidFill>
                        </a:rPr>
                        <a:t>26.5</a:t>
                      </a:r>
                    </a:p>
                  </a:txBody>
                  <a:tcPr>
                    <a:solidFill>
                      <a:srgbClr val="FFFFFF"/>
                    </a:solidFill>
                  </a:tcPr>
                </a:tc>
                <a:tc>
                  <a:txBody>
                    <a:bodyPr/>
                    <a:lstStyle/>
                    <a:p>
                      <a:r>
                        <a:rPr sz="1400" b="0">
                          <a:solidFill>
                            <a:srgbClr val="1B2A41"/>
                          </a:solidFill>
                        </a:rPr>
                        <a:t>131</a:t>
                      </a:r>
                    </a:p>
                  </a:txBody>
                  <a:tcPr>
                    <a:solidFill>
                      <a:srgbClr val="FFFFFF"/>
                    </a:solidFill>
                  </a:tcPr>
                </a:tc>
              </a:tr>
              <a:tr h="457200">
                <a:tc>
                  <a:txBody>
                    <a:bodyPr/>
                    <a:lstStyle/>
                    <a:p>
                      <a:r>
                        <a:rPr sz="1400" b="1">
                          <a:solidFill>
                            <a:srgbClr val="1B2A41"/>
                          </a:solidFill>
                        </a:rPr>
                        <a:t/>
                      </a:r>
                    </a:p>
                  </a:txBody>
                  <a:tcPr>
                    <a:solidFill>
                      <a:srgbClr val="EEF3F7"/>
                    </a:solidFill>
                  </a:tcPr>
                </a:tc>
                <a:tc>
                  <a:txBody>
                    <a:bodyPr/>
                    <a:lstStyle/>
                    <a:p>
                      <a:r>
                        <a:rPr sz="1400" b="0">
                          <a:solidFill>
                            <a:srgbClr val="1B2A41"/>
                          </a:solidFill>
                        </a:rPr>
                        <a:t>Rank 2</a:t>
                      </a:r>
                    </a:p>
                  </a:txBody>
                  <a:tcPr>
                    <a:solidFill>
                      <a:srgbClr val="EEF3F7"/>
                    </a:solidFill>
                  </a:tcPr>
                </a:tc>
                <a:tc>
                  <a:txBody>
                    <a:bodyPr/>
                    <a:lstStyle/>
                    <a:p>
                      <a:r>
                        <a:rPr sz="1400" b="0">
                          <a:solidFill>
                            <a:srgbClr val="1B2A41"/>
                          </a:solidFill>
                        </a:rPr>
                        <a:t>101.4 [100.9, 102.1]</a:t>
                      </a:r>
                    </a:p>
                  </a:txBody>
                  <a:tcPr>
                    <a:solidFill>
                      <a:srgbClr val="EEF3F7"/>
                    </a:solidFill>
                  </a:tcPr>
                </a:tc>
                <a:tc>
                  <a:txBody>
                    <a:bodyPr/>
                    <a:lstStyle/>
                    <a:p>
                      <a:r>
                        <a:rPr sz="1400" b="0">
                          <a:solidFill>
                            <a:srgbClr val="1B2A41"/>
                          </a:solidFill>
                        </a:rPr>
                        <a:t>93</a:t>
                      </a:r>
                    </a:p>
                  </a:txBody>
                  <a:tcPr>
                    <a:solidFill>
                      <a:srgbClr val="EEF3F7"/>
                    </a:solidFill>
                  </a:tcPr>
                </a:tc>
                <a:tc>
                  <a:txBody>
                    <a:bodyPr/>
                    <a:lstStyle/>
                    <a:p>
                      <a:r>
                        <a:rPr sz="1400" b="0">
                          <a:solidFill>
                            <a:srgbClr val="1B2A41"/>
                          </a:solidFill>
                        </a:rPr>
                        <a:t>39</a:t>
                      </a:r>
                    </a:p>
                  </a:txBody>
                  <a:tcPr>
                    <a:solidFill>
                      <a:srgbClr val="EEF3F7"/>
                    </a:solidFill>
                  </a:tcPr>
                </a:tc>
                <a:tc>
                  <a:txBody>
                    <a:bodyPr/>
                    <a:lstStyle/>
                    <a:p>
                      <a:r>
                        <a:rPr sz="1400" b="0">
                          <a:solidFill>
                            <a:srgbClr val="1B2A41"/>
                          </a:solidFill>
                        </a:rPr>
                        <a:t>38</a:t>
                      </a:r>
                    </a:p>
                  </a:txBody>
                  <a:tcPr>
                    <a:solidFill>
                      <a:srgbClr val="EEF3F7"/>
                    </a:solidFill>
                  </a:tcPr>
                </a:tc>
                <a:tc>
                  <a:txBody>
                    <a:bodyPr/>
                    <a:lstStyle/>
                    <a:p>
                      <a:r>
                        <a:rPr sz="1400" b="0">
                          <a:solidFill>
                            <a:srgbClr val="1B2A41"/>
                          </a:solidFill>
                        </a:rPr>
                        <a:t>27.1</a:t>
                      </a:r>
                    </a:p>
                  </a:txBody>
                  <a:tcPr>
                    <a:solidFill>
                      <a:srgbClr val="EEF3F7"/>
                    </a:solidFill>
                  </a:tcPr>
                </a:tc>
                <a:tc>
                  <a:txBody>
                    <a:bodyPr/>
                    <a:lstStyle/>
                    <a:p>
                      <a:r>
                        <a:rPr sz="1400" b="0">
                          <a:solidFill>
                            <a:srgbClr val="1B2A41"/>
                          </a:solidFill>
                        </a:rPr>
                        <a:t>141</a:t>
                      </a:r>
                    </a:p>
                  </a:txBody>
                  <a:tcPr>
                    <a:solidFill>
                      <a:srgbClr val="EEF3F7"/>
                    </a:solidFill>
                  </a:tcPr>
                </a:tc>
              </a:tr>
              <a:tr h="457200">
                <a:tc>
                  <a:txBody>
                    <a:bodyPr/>
                    <a:lstStyle/>
                    <a:p>
                      <a:r>
                        <a:rPr sz="1400" b="1">
                          <a:solidFill>
                            <a:srgbClr val="1B2A41"/>
                          </a:solidFill>
                        </a:rPr>
                        <a:t/>
                      </a:r>
                    </a:p>
                  </a:txBody>
                  <a:tcPr>
                    <a:solidFill>
                      <a:srgbClr val="FFFFFF"/>
                    </a:solidFill>
                  </a:tcPr>
                </a:tc>
                <a:tc>
                  <a:txBody>
                    <a:bodyPr/>
                    <a:lstStyle/>
                    <a:p>
                      <a:r>
                        <a:rPr sz="1400" b="0">
                          <a:solidFill>
                            <a:srgbClr val="1B2A41"/>
                          </a:solidFill>
                        </a:rPr>
                        <a:t>Rank 4</a:t>
                      </a:r>
                    </a:p>
                  </a:txBody>
                  <a:tcPr>
                    <a:solidFill>
                      <a:srgbClr val="FFFFFF"/>
                    </a:solidFill>
                  </a:tcPr>
                </a:tc>
                <a:tc>
                  <a:txBody>
                    <a:bodyPr/>
                    <a:lstStyle/>
                    <a:p>
                      <a:r>
                        <a:rPr sz="1400" b="0">
                          <a:solidFill>
                            <a:srgbClr val="1B2A41"/>
                          </a:solidFill>
                        </a:rPr>
                        <a:t>98.9 [98.3, 99.3]</a:t>
                      </a:r>
                    </a:p>
                  </a:txBody>
                  <a:tcPr>
                    <a:solidFill>
                      <a:srgbClr val="FFFFFF"/>
                    </a:solidFill>
                  </a:tcPr>
                </a:tc>
                <a:tc>
                  <a:txBody>
                    <a:bodyPr/>
                    <a:lstStyle/>
                    <a:p>
                      <a:r>
                        <a:rPr sz="1400" b="0">
                          <a:solidFill>
                            <a:srgbClr val="1B2A41"/>
                          </a:solidFill>
                        </a:rPr>
                        <a:t>91</a:t>
                      </a:r>
                    </a:p>
                  </a:txBody>
                  <a:tcPr>
                    <a:solidFill>
                      <a:srgbClr val="FFFFFF"/>
                    </a:solidFill>
                  </a:tcPr>
                </a:tc>
                <a:tc>
                  <a:txBody>
                    <a:bodyPr/>
                    <a:lstStyle/>
                    <a:p>
                      <a:r>
                        <a:rPr sz="1400" b="0">
                          <a:solidFill>
                            <a:srgbClr val="1B2A41"/>
                          </a:solidFill>
                        </a:rPr>
                        <a:t>65</a:t>
                      </a:r>
                    </a:p>
                  </a:txBody>
                  <a:tcPr>
                    <a:solidFill>
                      <a:srgbClr val="FFFFFF"/>
                    </a:solidFill>
                  </a:tcPr>
                </a:tc>
                <a:tc>
                  <a:txBody>
                    <a:bodyPr/>
                    <a:lstStyle/>
                    <a:p>
                      <a:r>
                        <a:rPr sz="1400" b="0">
                          <a:solidFill>
                            <a:srgbClr val="1B2A41"/>
                          </a:solidFill>
                        </a:rPr>
                        <a:t>64</a:t>
                      </a:r>
                    </a:p>
                  </a:txBody>
                  <a:tcPr>
                    <a:solidFill>
                      <a:srgbClr val="FFFFFF"/>
                    </a:solidFill>
                  </a:tcPr>
                </a:tc>
                <a:tc>
                  <a:txBody>
                    <a:bodyPr/>
                    <a:lstStyle/>
                    <a:p>
                      <a:r>
                        <a:rPr sz="1400" b="0">
                          <a:solidFill>
                            <a:srgbClr val="1B2A41"/>
                          </a:solidFill>
                        </a:rPr>
                        <a:t>28.1</a:t>
                      </a:r>
                    </a:p>
                  </a:txBody>
                  <a:tcPr>
                    <a:solidFill>
                      <a:srgbClr val="FFFFFF"/>
                    </a:solidFill>
                  </a:tcPr>
                </a:tc>
                <a:tc>
                  <a:txBody>
                    <a:bodyPr/>
                    <a:lstStyle/>
                    <a:p>
                      <a:r>
                        <a:rPr sz="1400" b="0">
                          <a:solidFill>
                            <a:srgbClr val="1B2A41"/>
                          </a:solidFill>
                        </a:rPr>
                        <a:t>134</a:t>
                      </a:r>
                    </a:p>
                  </a:txBody>
                  <a:tcPr>
                    <a:solidFill>
                      <a:srgbClr val="FFFFFF"/>
                    </a:solidFill>
                  </a:tcPr>
                </a:tc>
              </a:tr>
            </a:tbl>
          </a:graphicData>
        </a:graphic>
      </p:graphicFrame>
      <p:sp>
        <p:nvSpPr>
          <p:cNvPr id="8" name="TextBox 7"/>
          <p:cNvSpPr txBox="1"/>
          <p:nvPr/>
        </p:nvSpPr>
        <p:spPr>
          <a:xfrm>
            <a:off x="548640" y="5897880"/>
            <a:ext cx="11064240" cy="457200"/>
          </a:xfrm>
          <a:prstGeom prst="rect">
            <a:avLst/>
          </a:prstGeom>
          <a:noFill/>
        </p:spPr>
        <p:txBody>
          <a:bodyPr wrap="square">
            <a:spAutoFit/>
          </a:bodyPr>
          <a:lstStyle/>
          <a:p>
            <a:pPr algn="l"/>
            <a:r>
              <a:rPr sz="1400" b="0" i="1">
                <a:solidFill>
                  <a:srgbClr val="5C677D"/>
                </a:solidFill>
              </a:rPr>
              <a:t>CIFAR-10 SGD seeds: 94.075, 94.075, 94.083 (different training runs that happen to end equal). Raw ms/batch is not comparable across hardware; compare the change vs SGD.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